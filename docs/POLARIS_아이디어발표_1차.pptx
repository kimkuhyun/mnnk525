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77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64592" cy="164592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463040" y="1280160"/>
            <a:ext cx="91440" cy="914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28016" cy="128016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321040" y="3931920"/>
            <a:ext cx="182880" cy="18288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0" y="4480560"/>
            <a:ext cx="91440" cy="914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595360" y="4663440"/>
            <a:ext cx="118872" cy="118872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412480" y="548640"/>
            <a:ext cx="91440" cy="914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0" y="1097280"/>
            <a:ext cx="146304" cy="146304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13816" y="813816"/>
            <a:ext cx="649224" cy="466344"/>
          </a:xfrm>
          <a:prstGeom prst="line">
            <a:avLst/>
          </a:prstGeom>
          <a:noFill/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V="1">
            <a:off x="457200" y="1325880"/>
            <a:ext cx="1097280" cy="685800"/>
          </a:xfrm>
          <a:prstGeom prst="line">
            <a:avLst/>
          </a:prstGeom>
          <a:noFill/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 flipV="1">
            <a:off x="7498080" y="4023360"/>
            <a:ext cx="914400" cy="457200"/>
          </a:xfrm>
          <a:prstGeom prst="line">
            <a:avLst/>
          </a:prstGeom>
          <a:noFill/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503920" y="4114800"/>
            <a:ext cx="91440" cy="548640"/>
          </a:xfrm>
          <a:prstGeom prst="line">
            <a:avLst/>
          </a:prstGeom>
          <a:noFill/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DARTLENS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DARTLens</a:t>
            </a:r>
            <a:endParaRPr lang="en-US" sz="64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"판단의 대행이 아닌, 판단의 도구"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그래프RAG 기반 한국 기업 정보 해석 AI 도구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731520" cy="0"/>
          </a:xfrm>
          <a:prstGeom prst="line">
            <a:avLst/>
          </a:prstGeom>
          <a:noFill/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김구현  | </a:t>
            </a:r>
            <a:r>
              <a:rPr lang="ko-KR" alt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심태훈</a:t>
            </a:r>
            <a:r>
              <a:rPr lang="ko-K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ko-KR" alt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구본훈</a:t>
            </a:r>
            <a:r>
              <a:rPr lang="en-US" altLang="ko-K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토스증권 AI 인터뷰 — 우리가 </a:t>
            </a:r>
            <a:r>
              <a:rPr lang="en-US" sz="2600" b="1" dirty="0" err="1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차용할</a:t>
            </a: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것</a:t>
            </a:r>
            <a:r>
              <a:rPr lang="ko-KR" alt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은</a:t>
            </a:r>
            <a:r>
              <a:rPr lang="en-US" altLang="ko-KR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600" dirty="0"/>
          </a:p>
        </p:txBody>
      </p:sp>
      <p:pic>
        <p:nvPicPr>
          <p:cNvPr id="4" name="Image 0" descr="/home/claude/dartlens/article_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325880"/>
            <a:ext cx="2834640" cy="1892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3246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조중현 토스증권 머신러닝 엔지니어 (MLE)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52160" y="3447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사진=토스증권 / 출처: 뉴스핌 2026.04.22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"판단의 대행이 아닌, 판단의 도구"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844560"/>
            <a:ext cx="365760" cy="36576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57200" y="2027440"/>
            <a:ext cx="54864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202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리즈닝 ≠ 단순 요약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30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정보 수집 → 논리적 일치 검증 → 설명력 판단. 정보 통합이 아닌 '왜'에 답한다.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832112"/>
            <a:ext cx="54864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2832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온톨로지(지식그래프)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106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→ 산업 → 기업의 영향관계를 자동 연결. 예: '리튬 가격 급락 → 양극재 원가'.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636784"/>
            <a:ext cx="54864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40080" y="363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9111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인력 검수 결과를 모델에 피드백. 운영할수록 정확도가 정교해지는 선순환.</a:t>
            </a:r>
            <a:endParaRPr lang="en-US" sz="1000" dirty="0"/>
          </a:p>
        </p:txBody>
      </p:sp>
      <p:sp>
        <p:nvSpPr>
          <p:cNvPr id="50" name="Diff Banner BG"/>
          <p:cNvSpPr/>
          <p:nvPr/>
        </p:nvSpPr>
        <p:spPr>
          <a:xfrm>
            <a:off x="457200" y="4380000"/>
            <a:ext cx="8229600" cy="365760"/>
          </a:xfrm>
          <a:prstGeom prst="rect">
            <a:avLst/>
          </a:prstGeom>
          <a:solidFill>
            <a:srgbClr val="0A2540"/>
          </a:solidFill>
          <a:ln/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 </a:t>
            </a:r>
            <a:r>
              <a:rPr lang="ko-K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토스는 자사 증권 사용자에 한정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DARTLens는 종목 단위 심층 분석 + 출처 추적이 가능한 도구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뉴스핌 — '[인터뷰] 조중현 토스증권 MLE "AI가 뉴스 해석까지 조력자 도구로 나선다"' (2026.04.22)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누구를 위한 도구인가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73152" cy="77724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리서치에 시간을 쓰지만, 결론은 스스로 내고 싶은 사람.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결론을 대신 내려주지 않는다 — 결론을 내릴 수 있게 만든다.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0153" y="2194560"/>
            <a:ext cx="2697480" cy="23317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150153" y="2194560"/>
            <a:ext cx="269748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73" y="248716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64553" y="2468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/</a:t>
            </a:r>
            <a:r>
              <a:rPr lang="ko-KR" altLang="en-US" sz="900" b="1" kern="0" spc="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064553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개인투자자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24473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본업 외 시간에 종목을 분석한다. 공시·뉴스가 흩어져 있고 한국어로 정리된 도구가 없다.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89904" y="2194560"/>
            <a:ext cx="2697480" cy="23317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089904" y="2194560"/>
            <a:ext cx="269748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48716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04304" y="2468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/ 확장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004304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· 핀테크 리서치 팀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64224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 기업을 일상적으로 추적·비교한다. 그래프 기반 연결망 분석에 가장 가치를 둔다.</a:t>
            </a:r>
            <a:endParaRPr lang="en-US" sz="1100" dirty="0"/>
          </a:p>
        </p:txBody>
      </p:sp>
      <p:sp>
        <p:nvSpPr>
          <p:cNvPr id="26" name="Shape 11"/>
          <p:cNvSpPr/>
          <p:nvPr/>
        </p:nvSpPr>
        <p:spPr>
          <a:xfrm>
            <a:off x="189406" y="2194560"/>
            <a:ext cx="2697480" cy="23317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2"/>
          <p:cNvSpPr/>
          <p:nvPr/>
        </p:nvSpPr>
        <p:spPr>
          <a:xfrm>
            <a:off x="189406" y="2194560"/>
            <a:ext cx="269748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26" y="2487168"/>
            <a:ext cx="502920" cy="50292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1103806" y="2468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타깃</a:t>
            </a:r>
            <a:endParaRPr lang="en-US" sz="900" dirty="0"/>
          </a:p>
        </p:txBody>
      </p:sp>
      <p:sp>
        <p:nvSpPr>
          <p:cNvPr id="30" name="Text 14"/>
          <p:cNvSpPr/>
          <p:nvPr/>
        </p:nvSpPr>
        <p:spPr>
          <a:xfrm>
            <a:off x="1103806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취업준비생 · 주니어 리서치</a:t>
            </a:r>
            <a:endParaRPr lang="en-US" sz="1400" dirty="0"/>
          </a:p>
        </p:txBody>
      </p:sp>
      <p:sp>
        <p:nvSpPr>
          <p:cNvPr id="31" name="Text 15"/>
          <p:cNvSpPr/>
          <p:nvPr/>
        </p:nvSpPr>
        <p:spPr>
          <a:xfrm>
            <a:off x="463726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면접·리포트를 위해 기업을 빠르고 깊게 분석해야 한다. 사업보고서 100페이지를 어디서부터?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ANALYZES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어떤 질문에 답하는가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추천·예측·매매조언 없음. </a:t>
            </a: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'무엇인가 / 어떻게 연결되어 있는가'에만 답한다.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기업 분석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2219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"삼성전자 최근 분기 영업이익 감소 사유는?"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73552" y="1508760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6916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05072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공시 해석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02152" y="22219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사업보고서에서 주목할 위험요소는?"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89904" y="1508760"/>
            <a:ext cx="2697480" cy="1417320"/>
          </a:xfrm>
          <a:prstGeom prst="rect">
            <a:avLst/>
          </a:prstGeom>
          <a:solidFill>
            <a:srgbClr val="F7F9FB"/>
          </a:solidFill>
          <a:ln w="19050">
            <a:solidFill>
              <a:srgbClr val="F2B544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691640"/>
            <a:ext cx="384048" cy="38404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781544" y="1691640"/>
            <a:ext cx="822960" cy="22860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7781544" y="1691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821424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연결망 분석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18504" y="22219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"엔비디아 실적이 한국 반도체 공급망에 미친 영향?"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97480" cy="1417320"/>
          </a:xfrm>
          <a:prstGeom prst="rect">
            <a:avLst/>
          </a:prstGeom>
          <a:solidFill>
            <a:srgbClr val="F7F9FB"/>
          </a:solidFill>
          <a:ln w="19050">
            <a:solidFill>
              <a:srgbClr val="F2B544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46120"/>
            <a:ext cx="384048" cy="3840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2148840" y="3246120"/>
            <a:ext cx="822960" cy="22860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2148840" y="3246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188720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영향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3776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"리튬 가격 급락 → 양극재 4사 원가 구조는?"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73552" y="3063240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324612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05072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분석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02152" y="3776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"현대차 vs 기아 R&amp;D 투자비율 5년 추이?"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089904" y="3063240"/>
            <a:ext cx="2697480" cy="1417320"/>
          </a:xfrm>
          <a:prstGeom prst="rect">
            <a:avLst/>
          </a:prstGeom>
          <a:solidFill>
            <a:srgbClr val="F7F9FB"/>
          </a:solidFill>
          <a:ln w="19050">
            <a:solidFill>
              <a:srgbClr val="F2B544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246120"/>
            <a:ext cx="384048" cy="384048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81544" y="3246120"/>
            <a:ext cx="822960" cy="22860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/>
          <p:nvPr/>
        </p:nvSpPr>
        <p:spPr>
          <a:xfrm>
            <a:off x="7781544" y="3246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6821424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지배구조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18504" y="3776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"OO그룹 최대주주 변동 이력은?"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57200" y="4736592"/>
            <a:ext cx="164592" cy="164592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/>
          <p:nvPr/>
        </p:nvSpPr>
        <p:spPr>
          <a:xfrm>
            <a:off x="694944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표시된 항목은 그래프RAG가 본격적으로 진가를 발휘하는 영역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사용자가 경험하는 4가지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기업을 더 빨리, 더 깊이, 더 안전하게 읽는 도구.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09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이벤트 알림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2219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관심기업 등록 후엔 가만히 있어도 된다. 의미 있는 뉴스만 골라서 알림이 온다.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쏟아지는 정보 → 필요한 것만 분석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373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709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기업분석 챗봇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22219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링크를 던지거나, 자연어로 기업분석을 요청. 답은 출처와 함께 돌아온다.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3776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추측·예측·매매조언 없음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290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관심기업 프로필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85800" y="39136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토스 종목페이지처럼 항상 거기 있는 레퍼런스. 재무·지분·공시·관련 기업이 한 화면에.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85800" y="4434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메일함처럼 당연하게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290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하이라이팅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37760" y="39136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뭐라고 했는지가 아니라, AI가 어디서 읽었는지를 본다. 원본의 핵심 단락이 표시된다.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937760" y="4434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근거가 보이는 분석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화면에서 — 그래프와 원본을 동시에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어떤 노드들을 묶어서 봤는지(그래프), 그 안에서 어떤 문장을 근거로 삼았는지(원본)를 한 번에 본다.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77640" cy="30175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77640" cy="31089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지식그래프 (Knowledge Graph)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25880" y="2313432"/>
            <a:ext cx="1851660" cy="1046988"/>
          </a:xfrm>
          <a:prstGeom prst="line">
            <a:avLst/>
          </a:prstGeom>
          <a:noFill/>
          <a:ln w="12700">
            <a:solidFill>
              <a:srgbClr val="5B6B7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flipV="1">
            <a:off x="3177540" y="2267712"/>
            <a:ext cx="388620" cy="1092708"/>
          </a:xfrm>
          <a:prstGeom prst="line">
            <a:avLst/>
          </a:prstGeom>
          <a:noFill/>
          <a:ln w="12700">
            <a:solidFill>
              <a:srgbClr val="5B6B7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 flipV="1">
            <a:off x="1280160" y="3360420"/>
            <a:ext cx="1897380" cy="736092"/>
          </a:xfrm>
          <a:prstGeom prst="line">
            <a:avLst/>
          </a:prstGeom>
          <a:noFill/>
          <a:ln w="12700">
            <a:solidFill>
              <a:srgbClr val="5B6B7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77540" y="3360420"/>
            <a:ext cx="342900" cy="736092"/>
          </a:xfrm>
          <a:prstGeom prst="line">
            <a:avLst/>
          </a:prstGeom>
          <a:noFill/>
          <a:ln w="12700">
            <a:solidFill>
              <a:srgbClr val="5B6B7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714500" y="294894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2B54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14500" y="29489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엔비디아 실적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984248"/>
            <a:ext cx="1097280" cy="329184"/>
          </a:xfrm>
          <a:prstGeom prst="roundRect">
            <a:avLst>
              <a:gd name="adj" fmla="val 277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28600" y="1984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938528"/>
            <a:ext cx="1097280" cy="329184"/>
          </a:xfrm>
          <a:prstGeom prst="roundRect">
            <a:avLst>
              <a:gd name="adj" fmla="val 277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0" y="19385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" y="3767328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한미반도체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31720" y="3767328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331720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솔브레인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2519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→ 영향 받는 기업과 산업이 노드·엣지로 연결됨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53128" y="278892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709160" y="1508760"/>
            <a:ext cx="3977640" cy="30175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09160" y="1508760"/>
            <a:ext cx="3977640" cy="31089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150876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문서 (Document View)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9202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엔비디아 Q3 어닝콜 트랜스크립트  ·  2026.02.21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2219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매출은 데이터센터 부문이 전년 동기 대비 크게 증가하며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423160"/>
            <a:ext cx="3703320" cy="237744"/>
          </a:xfrm>
          <a:prstGeom prst="rect">
            <a:avLst/>
          </a:prstGeom>
          <a:solidFill>
            <a:srgbClr val="FFF3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92040" y="24414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HBM3E 메모리 수급이 안정화되며 H200 출하가 본격 확대된 것이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660904"/>
            <a:ext cx="3703320" cy="237744"/>
          </a:xfrm>
          <a:prstGeom prst="rect">
            <a:avLst/>
          </a:prstGeom>
          <a:solidFill>
            <a:srgbClr val="FFF3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92040" y="26791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동력이라고 CFO Colette Kress가 컨퍼런스콜에서 밝혔다.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29352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 아키텍처 기반 차세대 제품의 양산도 본격화되어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136392"/>
            <a:ext cx="3703320" cy="237744"/>
          </a:xfrm>
          <a:prstGeom prst="rect">
            <a:avLst/>
          </a:prstGeom>
          <a:solidFill>
            <a:srgbClr val="FFF3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92040" y="31546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TSMC의 CoWoS 패키징과 HBM 공급망 다변화가 핵심 과제로 거론.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34290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수주 잔고는 견조하며 데이터센터 CapEx 확대가 지속될...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4233672"/>
            <a:ext cx="146304" cy="146304"/>
          </a:xfrm>
          <a:prstGeom prst="rect">
            <a:avLst/>
          </a:prstGeom>
          <a:solidFill>
            <a:srgbClr val="FFF3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74920" y="423367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분석에 근거로 삼은 문장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0080" y="4617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노드 ↔ 원본 단락 양방향 연결.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챗봇이 못 하는 </a:t>
            </a:r>
            <a:r>
              <a:rPr lang="en-US" sz="1000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'근거 추적 가능한 분석'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가능하게 한다.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 — 두 개의 파이프라인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데이터는 LLM을 거치지 않는다. 비정형 답변은 출처 청크를 강제 인용한다.</a:t>
            </a:r>
          </a:p>
        </p:txBody>
      </p:sp>
      <p:sp>
        <p:nvSpPr>
          <p:cNvPr id="10" name="Band1 BG"/>
          <p:cNvSpPr/>
          <p:nvPr/>
        </p:nvSpPr>
        <p:spPr>
          <a:xfrm>
            <a:off x="457200" y="1430000"/>
            <a:ext cx="8229600" cy="138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1E6E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Band1 Accent"/>
          <p:cNvSpPr/>
          <p:nvPr/>
        </p:nvSpPr>
        <p:spPr>
          <a:xfrm>
            <a:off x="457200" y="1530000"/>
            <a:ext cx="54864" cy="32000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Band1 Header"/>
          <p:cNvSpPr/>
          <p:nvPr/>
        </p:nvSpPr>
        <p:spPr>
          <a:xfrm>
            <a:off x="640080" y="1530000"/>
            <a:ext cx="79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PIPELINE  </a:t>
            </a:r>
            <a:r>
              <a:rPr lang="ko-KR" alt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파이프라인  </a:t>
            </a:r>
            <a:r>
              <a:rPr lang="ko-KR" alt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LLM을 거치지 않음, 출처는 공시번호로 추적</a:t>
            </a:r>
          </a:p>
        </p:txBody>
      </p:sp>
      <p:sp>
        <p:nvSpPr>
          <p:cNvPr id="13" name="Flow1-1"/>
          <p:cNvSpPr/>
          <p:nvPr/>
        </p:nvSpPr>
        <p:spPr>
          <a:xfrm>
            <a:off x="640080" y="1980000"/>
            <a:ext cx="22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OpenAPI</a:t>
            </a:r>
          </a:p>
          <a:p>
            <a:pPr marL="0" indent="0" algn="ctr">
              <a:buNone/>
            </a:pPr>
            <a:r>
              <a:rPr lang="ko-KR" alt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 직접 추출</a:t>
            </a:r>
          </a:p>
        </p:txBody>
      </p:sp>
      <p:sp>
        <p:nvSpPr>
          <p:cNvPr id="14" name="Arrow1-1"/>
          <p:cNvSpPr/>
          <p:nvPr/>
        </p:nvSpPr>
        <p:spPr>
          <a:xfrm>
            <a:off x="2900000" y="2200000"/>
            <a:ext cx="3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Flow1-2"/>
          <p:cNvSpPr/>
          <p:nvPr/>
        </p:nvSpPr>
        <p:spPr>
          <a:xfrm>
            <a:off x="3310000" y="1980000"/>
            <a:ext cx="22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Celery</a:t>
            </a:r>
          </a:p>
          <a:p>
            <a:pPr marL="0" indent="0" algn="ctr">
              <a:buNone/>
            </a:pPr>
            <a:r>
              <a:rPr lang="ko-KR" alt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폴링 · 스케줄링</a:t>
            </a:r>
          </a:p>
        </p:txBody>
      </p:sp>
      <p:sp>
        <p:nvSpPr>
          <p:cNvPr id="16" name="Arrow1-2"/>
          <p:cNvSpPr/>
          <p:nvPr/>
        </p:nvSpPr>
        <p:spPr>
          <a:xfrm>
            <a:off x="5570000" y="2200000"/>
            <a:ext cx="3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Flow1-3"/>
          <p:cNvSpPr/>
          <p:nvPr/>
        </p:nvSpPr>
        <p:spPr>
          <a:xfrm>
            <a:off x="5980000" y="1980000"/>
            <a:ext cx="2500000" cy="5400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 w="9525">
            <a:solidFill>
              <a:srgbClr val="0A254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그래프</a:t>
            </a:r>
          </a:p>
          <a:p>
            <a:pPr marL="0" indent="0" algn="ctr">
              <a:buNone/>
            </a:pPr>
            <a:r>
              <a:rPr lang="ko-KR" alt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영구 노드 · 엣지 (출처 명확)</a:t>
            </a:r>
          </a:p>
        </p:txBody>
      </p:sp>
      <p:sp>
        <p:nvSpPr>
          <p:cNvPr id="18" name="Band1 Footer"/>
          <p:cNvSpPr/>
          <p:nvPr/>
        </p:nvSpPr>
        <p:spPr>
          <a:xfrm>
            <a:off x="640080" y="2600000"/>
            <a:ext cx="7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항목: 회사 개요 · 주주 · 임원 · 사외이사 · 특수관계자 · 매출비중 · 재무제표</a:t>
            </a:r>
          </a:p>
        </p:txBody>
      </p:sp>
      <p:sp>
        <p:nvSpPr>
          <p:cNvPr id="20" name="Band2 BG"/>
          <p:cNvSpPr/>
          <p:nvPr/>
        </p:nvSpPr>
        <p:spPr>
          <a:xfrm>
            <a:off x="457200" y="2900000"/>
            <a:ext cx="8229600" cy="148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1E6E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Band2 Accent"/>
          <p:cNvSpPr/>
          <p:nvPr/>
        </p:nvSpPr>
        <p:spPr>
          <a:xfrm>
            <a:off x="457200" y="3000000"/>
            <a:ext cx="54864" cy="32000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Band2 Header"/>
          <p:cNvSpPr/>
          <p:nvPr/>
        </p:nvSpPr>
        <p:spPr>
          <a:xfrm>
            <a:off x="640080" y="3000000"/>
            <a:ext cx="79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PIPELINE  </a:t>
            </a:r>
            <a:r>
              <a:rPr lang="ko-KR" alt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파이프라인  </a:t>
            </a:r>
            <a:r>
              <a:rPr lang="ko-KR" alt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응답 시 출처 청크 자동 인용 (Claude citations)</a:t>
            </a:r>
          </a:p>
        </p:txBody>
      </p:sp>
      <p:sp>
        <p:nvSpPr>
          <p:cNvPr id="23" name="Flow2-1"/>
          <p:cNvSpPr/>
          <p:nvPr/>
        </p:nvSpPr>
        <p:spPr>
          <a:xfrm>
            <a:off x="640080" y="3450000"/>
            <a:ext cx="162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txBody>
          <a:bodyPr wrap="square" lIns="73152" tIns="36576" rIns="73152" bIns="3657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청킹</a:t>
            </a:r>
          </a:p>
        </p:txBody>
      </p:sp>
      <p:sp>
        <p:nvSpPr>
          <p:cNvPr id="24" name="Arrow2-1"/>
          <p:cNvSpPr/>
          <p:nvPr/>
        </p:nvSpPr>
        <p:spPr>
          <a:xfrm>
            <a:off x="2320000" y="3670000"/>
            <a:ext cx="2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Flow2-2"/>
          <p:cNvSpPr/>
          <p:nvPr/>
        </p:nvSpPr>
        <p:spPr>
          <a:xfrm>
            <a:off x="2630000" y="3450000"/>
            <a:ext cx="162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txBody>
          <a:bodyPr wrap="square" lIns="73152" tIns="36576" rIns="73152" bIns="3657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임베딩</a:t>
            </a:r>
          </a:p>
        </p:txBody>
      </p:sp>
      <p:sp>
        <p:nvSpPr>
          <p:cNvPr id="26" name="Arrow2-2"/>
          <p:cNvSpPr/>
          <p:nvPr/>
        </p:nvSpPr>
        <p:spPr>
          <a:xfrm>
            <a:off x="4310000" y="3670000"/>
            <a:ext cx="2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Flow2-3"/>
          <p:cNvSpPr/>
          <p:nvPr/>
        </p:nvSpPr>
        <p:spPr>
          <a:xfrm>
            <a:off x="4620000" y="3450000"/>
            <a:ext cx="162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txBody>
          <a:bodyPr wrap="square" lIns="73152" tIns="36576" rIns="73152" bIns="36576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검색</a:t>
            </a: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청크 회수</a:t>
            </a:r>
          </a:p>
        </p:txBody>
      </p:sp>
      <p:sp>
        <p:nvSpPr>
          <p:cNvPr id="28" name="Arrow2-3"/>
          <p:cNvSpPr/>
          <p:nvPr/>
        </p:nvSpPr>
        <p:spPr>
          <a:xfrm>
            <a:off x="6300000" y="3670000"/>
            <a:ext cx="2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Flow2-4"/>
          <p:cNvSpPr/>
          <p:nvPr/>
        </p:nvSpPr>
        <p:spPr>
          <a:xfrm>
            <a:off x="6610000" y="3450000"/>
            <a:ext cx="1870000" cy="5400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 w="9525">
            <a:solidFill>
              <a:srgbClr val="0A2540"/>
            </a:solidFill>
          </a:ln>
        </p:spPr>
        <p:txBody>
          <a:bodyPr wrap="square" lIns="73152" tIns="36576" rIns="73152" bIns="3657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+ 인용 자동</a:t>
            </a:r>
          </a:p>
        </p:txBody>
      </p:sp>
      <p:sp>
        <p:nvSpPr>
          <p:cNvPr id="30" name="Band2 Footer"/>
          <p:cNvSpPr/>
          <p:nvPr/>
        </p:nvSpPr>
        <p:spPr>
          <a:xfrm>
            <a:off x="640080" y="4070000"/>
            <a:ext cx="7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항목: 사업의 내용 · 위험요소 · 이사의 경영진단 · 미래사업 · 감사인 의견 (해석 필요 텍스트)</a:t>
            </a:r>
          </a:p>
        </p:txBody>
      </p:sp>
      <p:sp>
        <p:nvSpPr>
          <p:cNvPr id="35" name="DATA BG"/>
          <p:cNvSpPr/>
          <p:nvPr/>
        </p:nvSpPr>
        <p:spPr>
          <a:xfrm>
            <a:off x="457200" y="4530000"/>
            <a:ext cx="8229600" cy="38404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DATA Text"/>
          <p:cNvSpPr/>
          <p:nvPr/>
        </p:nvSpPr>
        <p:spPr>
          <a:xfrm>
            <a:off x="640080" y="4530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r>
              <a:rPr lang="ko-KR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OpenDART (공시·재무·지분·주요사항) · KRX 시총 메타데이터 · KIPRIS 특허 · 경제·산업지 뉴스 RSS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LIMITS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신뢰성과 한계 — 시스템이 약속을 지키는 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"판단의 도구"라는 약속을 시스템 레벨로 보장하는 4가지.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09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2219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회사·주주·임원·재무 등 정형 데이터는 LLM을 거치지 않고 그래프에 직접 적재. 사실은 코드가, 해석만 AI가.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사실은 코드 · 해석만 AI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373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709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강제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22219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답변은 검색된 청크의 인용을 강제 (Claude citations). 출처가 없으면 답하지 않는다.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3776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없는 추론은 차단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측정과 보정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85800" y="39136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응답당 출처 적중률·인용 충실도를 추적. 사용자의 "이 추론 틀렸다" 신고로 그래프 엣지 보정.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85800" y="4434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운영하며 정확도 학습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3977640" cy="155448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290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하는 것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37760" y="39136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추천·예측·매매조언·정황 해석은 하지 않는다. 도구는 사용자가 판단할 수 있게 만든다.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937760" y="4434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판단은 사용자의 몫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오픈 컴포넌트 + 도메인 데이터의 </a:t>
            </a:r>
            <a:r>
              <a:rPr lang="en-US" sz="120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조합으로</a:t>
            </a:r>
            <a:r>
              <a:rPr lang="en-US" sz="1200" i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완성한다</a:t>
            </a: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6479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67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+ 벡터 통합 DB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633472"/>
            <a:ext cx="2148840" cy="22860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273552" y="1508760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76479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25112" y="1801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25112" y="2167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/ API 서버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547872" y="2633472"/>
            <a:ext cx="2148840" cy="22860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089904" y="1508760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764792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41464" y="1801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141464" y="2167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임베딩 (BAAI / HF)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364224" y="2633472"/>
            <a:ext cx="2148840" cy="22860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57200" y="3090672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346704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3749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청킹·구조화 (IBM)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1520" y="4215384"/>
            <a:ext cx="2148840" cy="22860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3273552" y="3090672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3346704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25112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325112" y="3749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스케줄링 / 큐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547872" y="4215384"/>
            <a:ext cx="2148840" cy="22860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6089904" y="3090672"/>
            <a:ext cx="2697480" cy="1417320"/>
          </a:xfrm>
          <a:prstGeom prst="rect">
            <a:avLst/>
          </a:prstGeom>
          <a:solidFill>
            <a:srgbClr val="F7F9FB"/>
          </a:solidFill>
          <a:ln w="9525">
            <a:solidFill>
              <a:srgbClr val="E3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346704"/>
            <a:ext cx="640080" cy="6400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41464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LLM API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141464" y="3749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리즈닝 (Claude API)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364224" y="4215384"/>
            <a:ext cx="2148840" cy="22860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957</Words>
  <Application>Microsoft Office PowerPoint</Application>
  <PresentationFormat>화면 슬라이드 쇼(16:9)</PresentationFormat>
  <Paragraphs>146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DARTLens 사업기획 요약</dc:title>
  <dc:subject>PptxGenJS Presentation</dc:subject>
  <dc:creator>PptxGenJS</dc:creator>
  <cp:lastModifiedBy>kimkuhyn</cp:lastModifiedBy>
  <cp:revision>10</cp:revision>
  <dcterms:created xsi:type="dcterms:W3CDTF">2026-05-14T15:22:08Z</dcterms:created>
  <dcterms:modified xsi:type="dcterms:W3CDTF">2026-05-14T23:01:02Z</dcterms:modified>
</cp:coreProperties>
</file>