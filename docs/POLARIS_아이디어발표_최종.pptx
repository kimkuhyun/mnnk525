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20" r:id="rId4"/>
    <p:sldId id="261" r:id="rId5"/>
    <p:sldId id="284" r:id="rId6"/>
    <p:sldId id="287" r:id="rId7"/>
    <p:sldId id="300" r:id="rId8"/>
    <p:sldId id="30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A4056-5E3D-4537-A8B9-B67107ADA0A1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DD391-EC00-4ADF-84EC-F274F6255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91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DD391-EC00-4ADF-84EC-F274F6255E1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198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DD391-EC00-4ADF-84EC-F274F6255E1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94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DD391-EC00-4ADF-84EC-F274F6255E1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517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DD391-EC00-4ADF-84EC-F274F6255E1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517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DD391-EC00-4ADF-84EC-F274F6255E1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517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DD391-EC00-4ADF-84EC-F274F6255E1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090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DD391-EC00-4ADF-84EC-F274F6255E1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305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arry_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082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503999"/>
            <a:ext cx="576000" cy="18000"/>
          </a:xfrm>
          <a:prstGeom prst="rect">
            <a:avLst/>
          </a:prstGeom>
          <a:solidFill>
            <a:srgbClr val="7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4000" y="378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300">
                <a:solidFill>
                  <a:srgbClr val="7AB0FF"/>
                </a:solidFill>
                <a:latin typeface="Consolas"/>
              </a:rPr>
              <a:t>POLARIS · 아이디어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655999"/>
            <a:ext cx="10080000" cy="12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0" i="0" spc="1400" dirty="0">
                <a:solidFill>
                  <a:srgbClr val="FFFFFF"/>
                </a:solidFill>
                <a:latin typeface="Times New Roman"/>
              </a:rPr>
              <a:t>POLARIS</a:t>
            </a:r>
          </a:p>
        </p:txBody>
      </p:sp>
      <p:sp>
        <p:nvSpPr>
          <p:cNvPr id="9" name="Oval 8"/>
          <p:cNvSpPr/>
          <p:nvPr/>
        </p:nvSpPr>
        <p:spPr>
          <a:xfrm>
            <a:off x="7515346" y="3024000"/>
            <a:ext cx="125999" cy="1259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000" y="3311999"/>
            <a:ext cx="1008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 spc="50">
                <a:solidFill>
                  <a:srgbClr val="C9C2E8"/>
                </a:solidFill>
                <a:latin typeface="HY견명조"/>
              </a:rPr>
              <a:t>판단의 대행이 아닌, 판단의 도구.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924000"/>
            <a:ext cx="162000" cy="162000"/>
          </a:xfrm>
          <a:prstGeom prst="rect">
            <a:avLst/>
          </a:prstGeom>
          <a:solidFill>
            <a:srgbClr val="7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000" y="3906000"/>
            <a:ext cx="100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30">
                <a:solidFill>
                  <a:srgbClr val="FFFFFF"/>
                </a:solidFill>
                <a:latin typeface="맑은 고딕"/>
              </a:rPr>
              <a:t>실시간 정보 분석 서비스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0000" y="5112000"/>
            <a:ext cx="10800000" cy="0"/>
          </a:xfrm>
          <a:prstGeom prst="line">
            <a:avLst/>
          </a:prstGeom>
          <a:ln w="6350">
            <a:solidFill>
              <a:srgbClr val="332E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000" y="5292000"/>
            <a:ext cx="2160000" cy="164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 dirty="0">
                <a:solidFill>
                  <a:srgbClr val="7AB0FF"/>
                </a:solidFill>
                <a:latin typeface="Consolas"/>
              </a:rPr>
              <a:t>TEAM  ·  </a:t>
            </a:r>
            <a:r>
              <a:rPr sz="1000" b="1" i="0" spc="300" dirty="0" err="1">
                <a:solidFill>
                  <a:srgbClr val="7AB0FF"/>
                </a:solidFill>
                <a:latin typeface="Consolas"/>
              </a:rPr>
              <a:t>삼총사</a:t>
            </a:r>
            <a:endParaRPr sz="1000" b="1" i="0" spc="300" dirty="0">
              <a:solidFill>
                <a:srgbClr val="7AB0FF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000" y="5544000"/>
            <a:ext cx="2880000" cy="289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i="0" spc="80" dirty="0" err="1">
                <a:solidFill>
                  <a:srgbClr val="FFFFFF"/>
                </a:solidFill>
                <a:latin typeface="HY견명조"/>
              </a:rPr>
              <a:t>김구현</a:t>
            </a:r>
            <a:endParaRPr i="0" spc="80" dirty="0">
              <a:solidFill>
                <a:srgbClr val="FFFFFF"/>
              </a:solidFill>
              <a:latin typeface="HY견명조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0000" y="592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50">
                <a:solidFill>
                  <a:srgbClr val="7AB0FF"/>
                </a:solidFill>
                <a:latin typeface="Consolas"/>
              </a:rPr>
              <a:t>팀장 · TEAM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5562000"/>
            <a:ext cx="2880000" cy="289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spc="80" dirty="0" err="1">
                <a:solidFill>
                  <a:schemeClr val="bg1"/>
                </a:solidFill>
                <a:latin typeface="HY견명조"/>
              </a:rPr>
              <a:t>구본훈</a:t>
            </a:r>
            <a:endParaRPr sz="1800" b="0" i="0" spc="80" dirty="0">
              <a:solidFill>
                <a:schemeClr val="bg1"/>
              </a:solidFill>
              <a:latin typeface="HY견명조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60000" y="592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50">
                <a:solidFill>
                  <a:srgbClr val="8B85B8"/>
                </a:solidFill>
                <a:latin typeface="Consolas"/>
              </a:rPr>
              <a:t>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5562000"/>
            <a:ext cx="2880000" cy="289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spc="80" dirty="0" err="1">
                <a:solidFill>
                  <a:schemeClr val="bg1"/>
                </a:solidFill>
                <a:latin typeface="HY견명조"/>
              </a:rPr>
              <a:t>심태훈</a:t>
            </a:r>
            <a:endParaRPr sz="1800" b="0" i="0" spc="80" dirty="0">
              <a:solidFill>
                <a:schemeClr val="bg1"/>
              </a:solidFill>
              <a:latin typeface="HY견명조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80000" y="592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50">
                <a:solidFill>
                  <a:srgbClr val="8B85B8"/>
                </a:solidFill>
                <a:latin typeface="Consolas"/>
              </a:rPr>
              <a:t>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0" y="5292000"/>
            <a:ext cx="43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300">
                <a:solidFill>
                  <a:srgbClr val="7AB0FF"/>
                </a:solidFill>
                <a:latin typeface="Consolas"/>
              </a:rPr>
              <a:t>PROJECT  ·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5544000"/>
            <a:ext cx="432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 i="0" spc="200">
                <a:solidFill>
                  <a:srgbClr val="FFFFFF"/>
                </a:solidFill>
                <a:latin typeface="Times New Roman"/>
              </a:rPr>
              <a:t>POLARIS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5886000"/>
            <a:ext cx="43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 spc="100">
                <a:solidFill>
                  <a:srgbClr val="C9C2E8"/>
                </a:solidFill>
                <a:latin typeface="맑은 고딕"/>
              </a:rPr>
              <a:t>실시간 정보 분석 서비스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6462000"/>
            <a:ext cx="72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80">
                <a:solidFill>
                  <a:srgbClr val="6E6890"/>
                </a:solidFill>
                <a:latin typeface="Consolas"/>
              </a:rPr>
              <a:t>© 2026  Samchongsa.  All rights reserved.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6462000"/>
            <a:ext cx="4320000" cy="131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80" dirty="0">
                <a:solidFill>
                  <a:srgbClr val="6E6890"/>
                </a:solidFill>
                <a:latin typeface="Consolas"/>
              </a:rPr>
              <a:t>Confidential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709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01 ·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01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B7BD9"/>
                </a:solidFill>
                <a:latin typeface="Consolas"/>
              </a:rPr>
              <a:t>01 · 우리가 풀려는 문제 /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20" dirty="0" err="1">
                <a:solidFill>
                  <a:srgbClr val="1A1A2E"/>
                </a:solidFill>
                <a:latin typeface="맑은 고딕"/>
              </a:rPr>
              <a:t>같은</a:t>
            </a:r>
            <a:r>
              <a:rPr sz="2600" b="1" i="0" spc="-2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600" b="1" i="0" spc="-20" dirty="0" err="1">
                <a:solidFill>
                  <a:srgbClr val="1A1A2E"/>
                </a:solidFill>
                <a:latin typeface="맑은 고딕"/>
              </a:rPr>
              <a:t>정보</a:t>
            </a:r>
            <a:r>
              <a:rPr sz="2600" b="1" i="0" spc="-20" dirty="0">
                <a:solidFill>
                  <a:srgbClr val="1A1A2E"/>
                </a:solidFill>
                <a:latin typeface="맑은 고딕"/>
              </a:rPr>
              <a:t> 한 줄, </a:t>
            </a:r>
            <a:r>
              <a:rPr sz="2600" b="1" i="0" spc="-20" dirty="0" err="1">
                <a:solidFill>
                  <a:srgbClr val="1A1A2E"/>
                </a:solidFill>
                <a:latin typeface="맑은 고딕"/>
              </a:rPr>
              <a:t>누구에게는</a:t>
            </a:r>
            <a:r>
              <a:rPr sz="2600" b="1" i="0" spc="-2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600" b="1" i="0" spc="-20" dirty="0" err="1">
                <a:solidFill>
                  <a:srgbClr val="1A1A2E"/>
                </a:solidFill>
                <a:latin typeface="맑은 고딕"/>
              </a:rPr>
              <a:t>신호가</a:t>
            </a:r>
            <a:r>
              <a:rPr sz="2600" b="1" i="0" spc="-2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2600" b="1" i="0" spc="-20" dirty="0" err="1">
                <a:solidFill>
                  <a:srgbClr val="1A1A2E"/>
                </a:solidFill>
                <a:latin typeface="맑은 고딕"/>
              </a:rPr>
              <a:t>된다</a:t>
            </a:r>
            <a:endParaRPr sz="2600" b="1" i="0" spc="-2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000" y="2376000"/>
            <a:ext cx="5472000" cy="3384000"/>
          </a:xfrm>
          <a:prstGeom prst="rect">
            <a:avLst/>
          </a:prstGeom>
          <a:solidFill>
            <a:srgbClr val="F6F4F0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1999" y="2592000"/>
            <a:ext cx="2880000" cy="164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 dirty="0" err="1">
                <a:solidFill>
                  <a:srgbClr val="888899"/>
                </a:solidFill>
                <a:latin typeface="Consolas"/>
              </a:rPr>
              <a:t>일반인</a:t>
            </a:r>
            <a:r>
              <a:rPr sz="1000" b="1" i="0" spc="300" dirty="0">
                <a:solidFill>
                  <a:srgbClr val="888899"/>
                </a:solidFill>
                <a:latin typeface="Consolas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000" y="2898000"/>
            <a:ext cx="4968001" cy="43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4000" y="3006000"/>
            <a:ext cx="4680001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2E"/>
                </a:solidFill>
                <a:latin typeface="HY견명조"/>
              </a:rPr>
              <a:t>“A기업, 합병 철회…”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286" y="3571690"/>
            <a:ext cx="4968001" cy="32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>
                <a:solidFill>
                  <a:srgbClr val="888899"/>
                </a:solidFill>
                <a:latin typeface="맑은 고딕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4152" y="4058878"/>
            <a:ext cx="4680001" cy="100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5000" b="0" i="0" dirty="0">
                <a:solidFill>
                  <a:srgbClr val="4A4A5E"/>
                </a:solidFill>
                <a:latin typeface="맑은 고딕"/>
              </a:rPr>
              <a:t>?</a:t>
            </a:r>
            <a:endParaRPr sz="5000" b="0" i="0" dirty="0">
              <a:solidFill>
                <a:srgbClr val="4A4A5E"/>
              </a:solidFill>
              <a:latin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92000" y="2376000"/>
            <a:ext cx="5472000" cy="3384000"/>
          </a:xfrm>
          <a:prstGeom prst="rect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3999" y="2592000"/>
            <a:ext cx="28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7AB0FF"/>
                </a:solidFill>
                <a:latin typeface="Consolas"/>
              </a:rPr>
              <a:t>전문가  /  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999" y="2879999"/>
            <a:ext cx="4968001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i="0" dirty="0">
                <a:solidFill>
                  <a:srgbClr val="FFFFFF"/>
                </a:solidFill>
                <a:latin typeface="맑은 고딕"/>
              </a:rPr>
              <a:t>한 </a:t>
            </a:r>
            <a:r>
              <a:rPr sz="1600" i="0" dirty="0" err="1">
                <a:solidFill>
                  <a:srgbClr val="FFFFFF"/>
                </a:solidFill>
                <a:latin typeface="맑은 고딕"/>
              </a:rPr>
              <a:t>줄에서</a:t>
            </a:r>
            <a:r>
              <a:rPr sz="1600" i="0" dirty="0">
                <a:solidFill>
                  <a:srgbClr val="FFFFFF"/>
                </a:solidFill>
                <a:latin typeface="맑은 고딕"/>
              </a:rPr>
              <a:t> ‘</a:t>
            </a:r>
            <a:r>
              <a:rPr sz="1600" i="0" dirty="0" err="1">
                <a:solidFill>
                  <a:srgbClr val="FFFFFF"/>
                </a:solidFill>
                <a:latin typeface="맑은 고딕"/>
              </a:rPr>
              <a:t>연관</a:t>
            </a:r>
            <a:r>
              <a:rPr sz="160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FFFFFF"/>
                </a:solidFill>
                <a:latin typeface="맑은 고딕"/>
              </a:rPr>
              <a:t>망’을</a:t>
            </a:r>
            <a:r>
              <a:rPr sz="160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600" i="0" dirty="0" err="1">
                <a:solidFill>
                  <a:srgbClr val="FFFFFF"/>
                </a:solidFill>
                <a:latin typeface="맑은 고딕"/>
              </a:rPr>
              <a:t>떠올린다</a:t>
            </a:r>
            <a:endParaRPr sz="1600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622000" y="4014000"/>
            <a:ext cx="612000" cy="612000"/>
          </a:xfrm>
          <a:prstGeom prst="ellipse">
            <a:avLst/>
          </a:prstGeom>
          <a:solidFill>
            <a:srgbClr val="7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8000" y="4212000"/>
            <a:ext cx="10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B0820"/>
                </a:solidFill>
                <a:latin typeface="맑은 고딕"/>
              </a:rPr>
              <a:t>뉴스</a:t>
            </a:r>
          </a:p>
        </p:txBody>
      </p:sp>
      <p:sp>
        <p:nvSpPr>
          <p:cNvPr id="23" name="Oval 22"/>
          <p:cNvSpPr/>
          <p:nvPr/>
        </p:nvSpPr>
        <p:spPr>
          <a:xfrm>
            <a:off x="8568000" y="3168000"/>
            <a:ext cx="720000" cy="360000"/>
          </a:xfrm>
          <a:prstGeom prst="ellipse">
            <a:avLst/>
          </a:prstGeom>
          <a:solidFill>
            <a:srgbClr val="332A66"/>
          </a:solidFill>
          <a:ln w="9525">
            <a:solidFill>
              <a:srgbClr val="7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68000" y="3240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지분 구조</a:t>
            </a:r>
          </a:p>
        </p:txBody>
      </p:sp>
      <p:cxnSp>
        <p:nvCxnSpPr>
          <p:cNvPr id="25" name="Connector 24"/>
          <p:cNvCxnSpPr>
            <a:cxnSpLocks/>
            <a:stCxn id="21" idx="0"/>
            <a:endCxn id="23" idx="4"/>
          </p:cNvCxnSpPr>
          <p:nvPr/>
        </p:nvCxnSpPr>
        <p:spPr>
          <a:xfrm flipV="1">
            <a:off x="8928000" y="3528000"/>
            <a:ext cx="0" cy="486000"/>
          </a:xfrm>
          <a:prstGeom prst="line">
            <a:avLst/>
          </a:prstGeom>
          <a:ln w="889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211426" y="3839635"/>
            <a:ext cx="720000" cy="360000"/>
          </a:xfrm>
          <a:prstGeom prst="ellipse">
            <a:avLst/>
          </a:prstGeom>
          <a:solidFill>
            <a:srgbClr val="332A66"/>
          </a:solidFill>
          <a:ln w="9525">
            <a:solidFill>
              <a:srgbClr val="7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11426" y="3911635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과거 사례</a:t>
            </a:r>
          </a:p>
        </p:txBody>
      </p:sp>
      <p:cxnSp>
        <p:nvCxnSpPr>
          <p:cNvPr id="28" name="Connector 27"/>
          <p:cNvCxnSpPr>
            <a:cxnSpLocks/>
            <a:endCxn id="26" idx="2"/>
          </p:cNvCxnSpPr>
          <p:nvPr/>
        </p:nvCxnSpPr>
        <p:spPr>
          <a:xfrm flipV="1">
            <a:off x="9255847" y="4019635"/>
            <a:ext cx="955579" cy="270000"/>
          </a:xfrm>
          <a:prstGeom prst="line">
            <a:avLst/>
          </a:prstGeom>
          <a:ln w="889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85903" y="5124173"/>
            <a:ext cx="720000" cy="360000"/>
          </a:xfrm>
          <a:prstGeom prst="ellipse">
            <a:avLst/>
          </a:prstGeom>
          <a:solidFill>
            <a:srgbClr val="332A66"/>
          </a:solidFill>
          <a:ln w="9525">
            <a:solidFill>
              <a:srgbClr val="7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85903" y="5256000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dirty="0" err="1">
                <a:solidFill>
                  <a:srgbClr val="FFFFFF"/>
                </a:solidFill>
                <a:latin typeface="맑은 고딕"/>
              </a:rPr>
              <a:t>재무</a:t>
            </a:r>
            <a:r>
              <a:rPr sz="95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950" b="0" i="0" dirty="0" err="1">
                <a:solidFill>
                  <a:srgbClr val="FFFFFF"/>
                </a:solidFill>
                <a:latin typeface="맑은 고딕"/>
              </a:rPr>
              <a:t>영향</a:t>
            </a:r>
            <a:endParaRPr sz="950" b="0" i="0" dirty="0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31" name="Connector 30"/>
          <p:cNvCxnSpPr>
            <a:cxnSpLocks/>
            <a:stCxn id="21" idx="5"/>
          </p:cNvCxnSpPr>
          <p:nvPr/>
        </p:nvCxnSpPr>
        <p:spPr>
          <a:xfrm>
            <a:off x="9144375" y="4536375"/>
            <a:ext cx="799318" cy="569990"/>
          </a:xfrm>
          <a:prstGeom prst="line">
            <a:avLst/>
          </a:prstGeom>
          <a:ln w="889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26900" y="5127183"/>
            <a:ext cx="720000" cy="360000"/>
          </a:xfrm>
          <a:prstGeom prst="ellipse">
            <a:avLst/>
          </a:prstGeom>
          <a:solidFill>
            <a:srgbClr val="332A66"/>
          </a:solidFill>
          <a:ln w="9525">
            <a:solidFill>
              <a:srgbClr val="7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999" y="5237998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dirty="0" err="1">
                <a:solidFill>
                  <a:srgbClr val="FFFFFF"/>
                </a:solidFill>
                <a:latin typeface="맑은 고딕"/>
              </a:rPr>
              <a:t>주가</a:t>
            </a:r>
            <a:r>
              <a:rPr sz="95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950" b="0" i="0" dirty="0" err="1">
                <a:solidFill>
                  <a:srgbClr val="FFFFFF"/>
                </a:solidFill>
                <a:latin typeface="맑은 고딕"/>
              </a:rPr>
              <a:t>흐름</a:t>
            </a:r>
            <a:endParaRPr sz="950" b="0" i="0" dirty="0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34" name="Connector 33"/>
          <p:cNvCxnSpPr>
            <a:cxnSpLocks/>
            <a:stCxn id="21" idx="3"/>
          </p:cNvCxnSpPr>
          <p:nvPr/>
        </p:nvCxnSpPr>
        <p:spPr>
          <a:xfrm flipH="1">
            <a:off x="7970341" y="4536375"/>
            <a:ext cx="741284" cy="620078"/>
          </a:xfrm>
          <a:prstGeom prst="line">
            <a:avLst/>
          </a:prstGeom>
          <a:ln w="889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924574" y="3839635"/>
            <a:ext cx="720000" cy="360000"/>
          </a:xfrm>
          <a:prstGeom prst="ellipse">
            <a:avLst/>
          </a:prstGeom>
          <a:solidFill>
            <a:srgbClr val="332A66"/>
          </a:solidFill>
          <a:ln w="9525">
            <a:solidFill>
              <a:srgbClr val="7A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24574" y="3911635"/>
            <a:ext cx="72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공시 일정</a:t>
            </a:r>
          </a:p>
        </p:txBody>
      </p:sp>
      <p:cxnSp>
        <p:nvCxnSpPr>
          <p:cNvPr id="37" name="Connector 36"/>
          <p:cNvCxnSpPr>
            <a:cxnSpLocks/>
            <a:endCxn id="36" idx="3"/>
          </p:cNvCxnSpPr>
          <p:nvPr/>
        </p:nvCxnSpPr>
        <p:spPr>
          <a:xfrm flipH="1" flipV="1">
            <a:off x="7644574" y="4019635"/>
            <a:ext cx="977426" cy="321182"/>
          </a:xfrm>
          <a:prstGeom prst="line">
            <a:avLst/>
          </a:prstGeom>
          <a:ln w="889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88226" y="2903847"/>
            <a:ext cx="2013891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1" dirty="0">
                <a:solidFill>
                  <a:schemeClr val="bg1"/>
                </a:solidFill>
                <a:latin typeface="맑은 고딕"/>
              </a:rPr>
              <a:t>→ </a:t>
            </a:r>
            <a:r>
              <a:rPr sz="1400" b="1" i="1" dirty="0" err="1">
                <a:solidFill>
                  <a:schemeClr val="bg1"/>
                </a:solidFill>
                <a:latin typeface="맑은 고딕"/>
              </a:rPr>
              <a:t>직관적·빠른</a:t>
            </a:r>
            <a:r>
              <a:rPr sz="1400" b="1" i="1" dirty="0">
                <a:solidFill>
                  <a:schemeClr val="bg1"/>
                </a:solidFill>
                <a:latin typeface="맑은 고딕"/>
              </a:rPr>
              <a:t> </a:t>
            </a:r>
            <a:r>
              <a:rPr sz="1400" b="1" i="1" dirty="0" err="1">
                <a:solidFill>
                  <a:schemeClr val="bg1"/>
                </a:solidFill>
                <a:latin typeface="맑은 고딕"/>
              </a:rPr>
              <a:t>판단</a:t>
            </a:r>
            <a:endParaRPr sz="1400" b="1" i="1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0000" y="5903999"/>
            <a:ext cx="11160000" cy="39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0000" y="5958000"/>
            <a:ext cx="11160000" cy="30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 spc="30">
                <a:solidFill>
                  <a:srgbClr val="FFFFFF"/>
                </a:solidFill>
                <a:latin typeface="HY견명조"/>
              </a:rPr>
              <a:t>POLARIS는 ‘전문가의 사고 도구’ 그 자체를 일반인에게 제공한다.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03 · FAMILIAR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03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B7BD9"/>
                </a:solidFill>
                <a:latin typeface="Consolas"/>
              </a:rPr>
              <a:t>03 · 친숙한 사례 / FAMILIAR 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20">
                <a:solidFill>
                  <a:srgbClr val="1A1A2E"/>
                </a:solidFill>
                <a:latin typeface="맑은 고딕"/>
              </a:rPr>
              <a:t>이미 우리가 매일 쓰고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236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sz="1250" b="0" i="0" dirty="0">
                <a:solidFill>
                  <a:srgbClr val="4A4A5E"/>
                </a:solidFill>
                <a:latin typeface="맑은 고딕"/>
                <a:ea typeface="맑은 고딕"/>
              </a:rPr>
              <a:t>소셜 네트워크와 추천 — 우리가 매일 쓰는 서비스 뒤에는 그래프 구조가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376000"/>
            <a:ext cx="5472000" cy="3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0000" y="2376000"/>
            <a:ext cx="5472000" cy="144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1999" y="2664000"/>
            <a:ext cx="288000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1100" b="1" i="0" spc="300" dirty="0">
                <a:solidFill>
                  <a:srgbClr val="3B7BD9"/>
                </a:solidFill>
                <a:latin typeface="Consolas"/>
              </a:rPr>
              <a:t>CASE 01 ·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2916000"/>
            <a:ext cx="4968001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2200" b="1" i="0" dirty="0">
                <a:solidFill>
                  <a:srgbClr val="1A1A2E"/>
                </a:solidFill>
                <a:latin typeface="맑은 고딕"/>
                <a:ea typeface="맑은 고딕"/>
              </a:rPr>
              <a:t>추천 그래프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99" y="3383999"/>
            <a:ext cx="4968001" cy="534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ko-KR" sz="1200" b="0" i="0" dirty="0">
                <a:solidFill>
                  <a:srgbClr val="4A4A5E"/>
                </a:solidFill>
                <a:latin typeface="맑은 고딕"/>
                <a:ea typeface="맑은 고딕"/>
              </a:rPr>
              <a:t>Pinterest의 PinSage, Amazon의 함께 본 상품 — 사용자와 콘텐츠를 잇는 양분 그래프.</a:t>
            </a:r>
          </a:p>
        </p:txBody>
      </p:sp>
      <p:sp>
        <p:nvSpPr>
          <p:cNvPr id="14" name="Oval 13"/>
          <p:cNvSpPr/>
          <p:nvPr/>
        </p:nvSpPr>
        <p:spPr>
          <a:xfrm>
            <a:off x="900000" y="4464000"/>
            <a:ext cx="396000" cy="396000"/>
          </a:xfrm>
          <a:prstGeom prst="ellipse">
            <a:avLst/>
          </a:prstGeom>
          <a:solidFill>
            <a:srgbClr val="7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001" y="4878000"/>
            <a:ext cx="86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1A2E"/>
                </a:solidFill>
                <a:latin typeface="맑은 고딕"/>
              </a:rPr>
              <a:t>사용자</a:t>
            </a:r>
          </a:p>
        </p:txBody>
      </p:sp>
      <p:sp>
        <p:nvSpPr>
          <p:cNvPr id="16" name="Oval 15"/>
          <p:cNvSpPr/>
          <p:nvPr/>
        </p:nvSpPr>
        <p:spPr>
          <a:xfrm>
            <a:off x="2520000" y="3996000"/>
            <a:ext cx="324000" cy="324000"/>
          </a:xfrm>
          <a:prstGeom prst="ellipse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2000" y="4068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A2E"/>
                </a:solidFill>
                <a:latin typeface="맑은 고딕"/>
              </a:rPr>
              <a:t>콘텐츠 ①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296000" y="4158000"/>
            <a:ext cx="1224000" cy="504000"/>
          </a:xfrm>
          <a:prstGeom prst="line">
            <a:avLst/>
          </a:prstGeom>
          <a:ln w="1016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520000" y="4464000"/>
            <a:ext cx="324000" cy="324000"/>
          </a:xfrm>
          <a:prstGeom prst="ellipse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52000" y="4536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A2E"/>
                </a:solidFill>
                <a:latin typeface="맑은 고딕"/>
              </a:rPr>
              <a:t>콘텐츠 ②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296000" y="4626000"/>
            <a:ext cx="1224000" cy="36000"/>
          </a:xfrm>
          <a:prstGeom prst="line">
            <a:avLst/>
          </a:prstGeom>
          <a:ln w="1016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520000" y="4932000"/>
            <a:ext cx="324000" cy="324000"/>
          </a:xfrm>
          <a:prstGeom prst="ellipse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52000" y="5004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A2E"/>
                </a:solidFill>
                <a:latin typeface="맑은 고딕"/>
              </a:rPr>
              <a:t>콘텐츠 ③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96000" y="4662000"/>
            <a:ext cx="1224000" cy="432000"/>
          </a:xfrm>
          <a:prstGeom prst="line">
            <a:avLst/>
          </a:prstGeom>
          <a:ln w="10160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1999" y="5652000"/>
            <a:ext cx="4968001" cy="15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950" b="0" i="0" spc="100" dirty="0">
                <a:solidFill>
                  <a:srgbClr val="8B85B8"/>
                </a:solidFill>
                <a:latin typeface="Consolas"/>
              </a:rPr>
              <a:t>관계 = '함께 봤다', '함께 샀다', '비슷한 사용자가 좋아했다'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2000" y="2376000"/>
            <a:ext cx="5472000" cy="3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2000" y="2376000"/>
            <a:ext cx="5472000" cy="144000"/>
          </a:xfrm>
          <a:prstGeom prst="rect">
            <a:avLst/>
          </a:prstGeom>
          <a:solidFill>
            <a:srgbClr val="9B7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3999" y="2664000"/>
            <a:ext cx="288000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1100" b="1" i="0" spc="300" dirty="0">
                <a:solidFill>
                  <a:srgbClr val="9B7CD9"/>
                </a:solidFill>
                <a:latin typeface="Consolas"/>
              </a:rPr>
              <a:t>CASE 02 · SOCIAL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3999" y="2916000"/>
            <a:ext cx="4968001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2200" b="1" i="0" dirty="0">
                <a:solidFill>
                  <a:srgbClr val="1A1A2E"/>
                </a:solidFill>
                <a:latin typeface="맑은 고딕"/>
                <a:ea typeface="맑은 고딕"/>
              </a:rPr>
              <a:t>소셜 그래프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999" y="3383999"/>
            <a:ext cx="4968001" cy="248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lang="ko-KR" sz="1200" b="0" i="0" dirty="0">
                <a:solidFill>
                  <a:srgbClr val="4A4A5E"/>
                </a:solidFill>
                <a:latin typeface="맑은 고딕"/>
                <a:ea typeface="맑은 고딕"/>
              </a:rPr>
              <a:t>Facebook의 TAO, LinkedIn의 인맥 — 사람과 사람을 잇는 거대한 그래프.</a:t>
            </a:r>
          </a:p>
        </p:txBody>
      </p:sp>
      <p:sp>
        <p:nvSpPr>
          <p:cNvPr id="31" name="Oval 30"/>
          <p:cNvSpPr/>
          <p:nvPr/>
        </p:nvSpPr>
        <p:spPr>
          <a:xfrm>
            <a:off x="8730000" y="4698000"/>
            <a:ext cx="396000" cy="396000"/>
          </a:xfrm>
          <a:prstGeom prst="ellipse">
            <a:avLst/>
          </a:prstGeom>
          <a:solidFill>
            <a:srgbClr val="9B7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96000" y="5112000"/>
            <a:ext cx="864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1A2E"/>
                </a:solidFill>
                <a:latin typeface="맑은 고딕"/>
              </a:rPr>
              <a:t>나</a:t>
            </a:r>
          </a:p>
        </p:txBody>
      </p:sp>
      <p:sp>
        <p:nvSpPr>
          <p:cNvPr id="33" name="Oval 32"/>
          <p:cNvSpPr/>
          <p:nvPr/>
        </p:nvSpPr>
        <p:spPr>
          <a:xfrm>
            <a:off x="7524000" y="4176000"/>
            <a:ext cx="288000" cy="288000"/>
          </a:xfrm>
          <a:prstGeom prst="ellipse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88000" y="4230000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</a:rPr>
              <a:t>A</a:t>
            </a:r>
          </a:p>
        </p:txBody>
      </p:sp>
      <p:cxnSp>
        <p:nvCxnSpPr>
          <p:cNvPr id="35" name="Connector 34"/>
          <p:cNvCxnSpPr>
            <a:cxnSpLocks/>
            <a:stCxn id="31" idx="2"/>
            <a:endCxn id="34" idx="3"/>
          </p:cNvCxnSpPr>
          <p:nvPr/>
        </p:nvCxnSpPr>
        <p:spPr>
          <a:xfrm flipH="1" flipV="1">
            <a:off x="7848000" y="4320000"/>
            <a:ext cx="882000" cy="576000"/>
          </a:xfrm>
          <a:prstGeom prst="line">
            <a:avLst/>
          </a:prstGeom>
          <a:ln w="10160">
            <a:solidFill>
              <a:srgbClr val="9B7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044000" y="4176000"/>
            <a:ext cx="288000" cy="288000"/>
          </a:xfrm>
          <a:prstGeom prst="ellipse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08000" y="4230000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</a:rPr>
              <a:t>B</a:t>
            </a:r>
          </a:p>
        </p:txBody>
      </p:sp>
      <p:cxnSp>
        <p:nvCxnSpPr>
          <p:cNvPr id="38" name="Connector 37"/>
          <p:cNvCxnSpPr>
            <a:cxnSpLocks/>
            <a:stCxn id="31" idx="6"/>
            <a:endCxn id="37" idx="1"/>
          </p:cNvCxnSpPr>
          <p:nvPr/>
        </p:nvCxnSpPr>
        <p:spPr>
          <a:xfrm flipV="1">
            <a:off x="9126000" y="4320000"/>
            <a:ext cx="882000" cy="576000"/>
          </a:xfrm>
          <a:prstGeom prst="line">
            <a:avLst/>
          </a:prstGeom>
          <a:ln w="10160">
            <a:solidFill>
              <a:srgbClr val="9B7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524000" y="5328000"/>
            <a:ext cx="288000" cy="288000"/>
          </a:xfrm>
          <a:prstGeom prst="ellipse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88000" y="5382000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</a:rPr>
              <a:t>C</a:t>
            </a:r>
          </a:p>
        </p:txBody>
      </p:sp>
      <p:cxnSp>
        <p:nvCxnSpPr>
          <p:cNvPr id="41" name="Connector 40"/>
          <p:cNvCxnSpPr>
            <a:cxnSpLocks/>
            <a:stCxn id="31" idx="2"/>
            <a:endCxn id="39" idx="7"/>
          </p:cNvCxnSpPr>
          <p:nvPr/>
        </p:nvCxnSpPr>
        <p:spPr>
          <a:xfrm flipH="1">
            <a:off x="7769823" y="4896000"/>
            <a:ext cx="960177" cy="474177"/>
          </a:xfrm>
          <a:prstGeom prst="line">
            <a:avLst/>
          </a:prstGeom>
          <a:ln w="10160">
            <a:solidFill>
              <a:srgbClr val="9B7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044000" y="5328000"/>
            <a:ext cx="288000" cy="288000"/>
          </a:xfrm>
          <a:prstGeom prst="ellipse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08000" y="5382000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</a:rPr>
              <a:t>D</a:t>
            </a:r>
          </a:p>
        </p:txBody>
      </p:sp>
      <p:cxnSp>
        <p:nvCxnSpPr>
          <p:cNvPr id="44" name="Connector 43"/>
          <p:cNvCxnSpPr>
            <a:cxnSpLocks/>
            <a:stCxn id="31" idx="6"/>
            <a:endCxn id="43" idx="1"/>
          </p:cNvCxnSpPr>
          <p:nvPr/>
        </p:nvCxnSpPr>
        <p:spPr>
          <a:xfrm>
            <a:off x="9126000" y="4896000"/>
            <a:ext cx="882000" cy="576000"/>
          </a:xfrm>
          <a:prstGeom prst="line">
            <a:avLst/>
          </a:prstGeom>
          <a:ln w="10160">
            <a:solidFill>
              <a:srgbClr val="9B7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43999" y="5652000"/>
            <a:ext cx="4968001" cy="15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sz="950" b="0" i="0" spc="100" dirty="0">
                <a:solidFill>
                  <a:srgbClr val="8B85B8"/>
                </a:solidFill>
                <a:latin typeface="Consolas"/>
              </a:rPr>
              <a:t>관계 = '친구다', '팔로우한다', '같이 일했다'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04</a:t>
            </a:r>
          </a:p>
        </p:txBody>
      </p:sp>
    </p:spTree>
    <p:extLst>
      <p:ext uri="{BB962C8B-B14F-4D97-AF65-F5344CB8AC3E}">
        <p14:creationId xmlns:p14="http://schemas.microsoft.com/office/powerpoint/2010/main" val="181458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05 ·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05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B7BD9"/>
                </a:solidFill>
                <a:latin typeface="Consolas"/>
              </a:rPr>
              <a:t>05 · 우리의 접근 / OUR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20">
                <a:solidFill>
                  <a:srgbClr val="1A1A2E"/>
                </a:solidFill>
                <a:latin typeface="맑은 고딕"/>
              </a:rPr>
              <a:t>기업 그래프  +  뉴스 트리거  +  LLM 추론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4A5E"/>
                </a:solidFill>
                <a:latin typeface="맑은 고딕"/>
              </a:rPr>
              <a:t>그래프 DB의 관계 추적 위에, 벡터 DB의 의미 검색과 LLM의 추론을 얹는다.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060" y="2520000"/>
            <a:ext cx="2664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8060" y="2520000"/>
            <a:ext cx="2664000" cy="144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4060" y="2808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3B7BD9"/>
                </a:solidFill>
                <a:latin typeface="Consolas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060" y="3060000"/>
            <a:ext cx="223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기업 그래프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060" y="3527999"/>
            <a:ext cx="223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4A4A5E"/>
                </a:solidFill>
                <a:latin typeface="Consolas"/>
              </a:rPr>
              <a:t>Neo4j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060" y="3888000"/>
            <a:ext cx="2232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반도체 기업 간 지분·거래·인물 관계를 미리 적재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80060" y="3744001"/>
            <a:ext cx="144000" cy="251999"/>
          </a:xfrm>
          <a:prstGeom prst="rightArrow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42060" y="2520000"/>
            <a:ext cx="2664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2060" y="2520000"/>
            <a:ext cx="2664000" cy="144000"/>
          </a:xfrm>
          <a:prstGeom prst="rect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58060" y="2808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C9A84F"/>
                </a:solidFill>
                <a:latin typeface="Consolas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8060" y="3060000"/>
            <a:ext cx="223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뉴스 트리거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8060" y="3527999"/>
            <a:ext cx="223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4A4A5E"/>
                </a:solidFill>
                <a:latin typeface="Consolas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8060" y="3888000"/>
            <a:ext cx="2232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뉴스 한 건이 들어오면 관련 노드가 점등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24060" y="3744001"/>
            <a:ext cx="144000" cy="251999"/>
          </a:xfrm>
          <a:prstGeom prst="rightArrow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86060" y="2520000"/>
            <a:ext cx="2664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86060" y="2520000"/>
            <a:ext cx="2664000" cy="144000"/>
          </a:xfrm>
          <a:prstGeom prst="rect">
            <a:avLst/>
          </a:prstGeom>
          <a:solidFill>
            <a:srgbClr val="6BB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2060" y="2808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6BBF9B"/>
                </a:solidFill>
                <a:latin typeface="Consolas"/>
              </a:rP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2060" y="3060000"/>
            <a:ext cx="223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관계 추출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2060" y="3527999"/>
            <a:ext cx="2232000" cy="182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 dirty="0">
                <a:solidFill>
                  <a:srgbClr val="4A4A5E"/>
                </a:solidFill>
                <a:latin typeface="Consolas"/>
              </a:rPr>
              <a:t>Graph + Vector</a:t>
            </a:r>
            <a:r>
              <a:rPr lang="en-US" sz="1100" b="1" i="0" spc="150" dirty="0">
                <a:solidFill>
                  <a:srgbClr val="4A4A5E"/>
                </a:solidFill>
                <a:latin typeface="Consolas"/>
              </a:rPr>
              <a:t> + RDBMS</a:t>
            </a:r>
            <a:endParaRPr sz="1100" b="1" i="0" spc="150" dirty="0">
              <a:solidFill>
                <a:srgbClr val="4A4A5E"/>
              </a:solidFill>
              <a:latin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2060" y="3888000"/>
            <a:ext cx="2232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활성 노드의 연결망 + 의미 유사 문서 회수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68060" y="3744001"/>
            <a:ext cx="144000" cy="251999"/>
          </a:xfrm>
          <a:prstGeom prst="rightArrow">
            <a:avLst/>
          </a:prstGeom>
          <a:solidFill>
            <a:srgbClr val="6BB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30060" y="2520000"/>
            <a:ext cx="2664000" cy="2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30060" y="2520000"/>
            <a:ext cx="2664000" cy="144000"/>
          </a:xfrm>
          <a:prstGeom prst="rect">
            <a:avLst/>
          </a:prstGeom>
          <a:solidFill>
            <a:srgbClr val="9B7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6060" y="2808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9B7CD9"/>
                </a:solidFill>
                <a:latin typeface="Consolas"/>
              </a:rP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6060" y="3060000"/>
            <a:ext cx="2232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LLM 추론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6060" y="3527999"/>
            <a:ext cx="2232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4A4A5E"/>
                </a:solidFill>
                <a:latin typeface="Consolas"/>
              </a:rPr>
              <a:t>REASONING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6060" y="3888000"/>
            <a:ext cx="2232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연결망과 문서를 인풋으로 LLM이 보고서 작성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5580000"/>
            <a:ext cx="11160000" cy="720000"/>
          </a:xfrm>
          <a:prstGeom prst="rect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0000" y="5706000"/>
            <a:ext cx="10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50">
                <a:solidFill>
                  <a:srgbClr val="7AB0FF"/>
                </a:solidFill>
                <a:latin typeface="Consolas"/>
              </a:rPr>
              <a:t>BOTTOM 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5922000"/>
            <a:ext cx="1080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뉴스 한 줄  →  관련 기업 그래프 점등  →  연결망과 문서를 LLM에 입력  →  분석 보고서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06 · WIREFRAME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06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144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ko-KR" sz="900" b="1" spc="200" dirty="0">
                <a:solidFill>
                  <a:srgbClr val="1A1A1E"/>
                </a:solidFill>
                <a:latin typeface="Consolas"/>
              </a:rPr>
              <a:t>05 · 와이어프레임 / SCREEN 1 —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35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  <a:buNone/>
            </a:pPr>
            <a:r>
              <a:rPr lang="ko-KR" sz="2400" b="1" dirty="0">
                <a:solidFill>
                  <a:srgbClr val="1A1A1E"/>
                </a:solidFill>
                <a:latin typeface="맑은 고딕"/>
                <a:ea typeface="맑은 고딕"/>
              </a:rPr>
              <a:t>메인 화면 — 검색창 한 줄, 피드 한 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1970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ko-KR" sz="1200" dirty="0">
                <a:solidFill>
                  <a:srgbClr val="4A4A52"/>
                </a:solidFill>
                <a:latin typeface="맑은 고딕"/>
                <a:ea typeface="맑은 고딕"/>
              </a:rPr>
              <a:t>URL을 붙여 넣으면 요약 카드가 실시간으로 생성된다.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07</a:t>
            </a:r>
          </a:p>
        </p:txBody>
      </p:sp>
      <p:sp>
        <p:nvSpPr>
          <p:cNvPr id="400" name="WF_Outer"/>
          <p:cNvSpPr/>
          <p:nvPr/>
        </p:nvSpPr>
        <p:spPr>
          <a:xfrm>
            <a:off x="762000" y="2222500"/>
            <a:ext cx="10668000" cy="4064000"/>
          </a:xfrm>
          <a:prstGeom prst="rect">
            <a:avLst/>
          </a:prstGeom>
          <a:solidFill>
            <a:srgbClr val="0F1320"/>
          </a:solidFill>
          <a:ln w="1270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1" name="WF_NavZone"/>
          <p:cNvSpPr/>
          <p:nvPr/>
        </p:nvSpPr>
        <p:spPr>
          <a:xfrm>
            <a:off x="762000" y="2222500"/>
            <a:ext cx="10668000" cy="35560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2" name="WF_Logo"/>
          <p:cNvSpPr/>
          <p:nvPr/>
        </p:nvSpPr>
        <p:spPr>
          <a:xfrm>
            <a:off x="990600" y="2324100"/>
            <a:ext cx="10160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3" name="WF_Logo_Lbl"/>
          <p:cNvSpPr txBox="1"/>
          <p:nvPr/>
        </p:nvSpPr>
        <p:spPr>
          <a:xfrm>
            <a:off x="990600" y="2324100"/>
            <a:ext cx="10160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로고</a:t>
            </a:r>
          </a:p>
        </p:txBody>
      </p:sp>
      <p:sp>
        <p:nvSpPr>
          <p:cNvPr id="404" name="WF_Menu_0"/>
          <p:cNvSpPr/>
          <p:nvPr/>
        </p:nvSpPr>
        <p:spPr>
          <a:xfrm>
            <a:off x="10566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5" name="WF_Menu_1"/>
          <p:cNvSpPr/>
          <p:nvPr/>
        </p:nvSpPr>
        <p:spPr>
          <a:xfrm>
            <a:off x="9931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6" name="WF_Menu_2"/>
          <p:cNvSpPr/>
          <p:nvPr/>
        </p:nvSpPr>
        <p:spPr>
          <a:xfrm>
            <a:off x="9296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7" name="WF_Menu_3"/>
          <p:cNvSpPr/>
          <p:nvPr/>
        </p:nvSpPr>
        <p:spPr>
          <a:xfrm>
            <a:off x="8661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8" name="WF_Menu_4"/>
          <p:cNvSpPr/>
          <p:nvPr/>
        </p:nvSpPr>
        <p:spPr>
          <a:xfrm>
            <a:off x="8026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9" name="WF_Menu_Lbl"/>
          <p:cNvSpPr txBox="1"/>
          <p:nvPr/>
        </p:nvSpPr>
        <p:spPr>
          <a:xfrm>
            <a:off x="8026400" y="2324100"/>
            <a:ext cx="31496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글로벌 네비</a:t>
            </a:r>
          </a:p>
        </p:txBody>
      </p:sp>
      <p:sp>
        <p:nvSpPr>
          <p:cNvPr id="410" name="WF_HeadZone"/>
          <p:cNvSpPr/>
          <p:nvPr/>
        </p:nvSpPr>
        <p:spPr>
          <a:xfrm>
            <a:off x="2032000" y="2921000"/>
            <a:ext cx="8128000" cy="5715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11" name="WF_Head_Lbl"/>
          <p:cNvSpPr txBox="1"/>
          <p:nvPr/>
        </p:nvSpPr>
        <p:spPr>
          <a:xfrm>
            <a:off x="2032000" y="2921000"/>
            <a:ext cx="812800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</a:pPr>
            <a:r>
              <a:rPr lang="ko-KR" sz="1000" dirty="0">
                <a:solidFill>
                  <a:srgbClr val="E8EAF1"/>
                </a:solidFill>
                <a:latin typeface="맑은 고딕"/>
                <a:ea typeface="맑은 고딕"/>
              </a:rPr>
              <a:t>헤드라인 영역</a:t>
            </a:r>
          </a:p>
        </p:txBody>
      </p:sp>
      <p:sp>
        <p:nvSpPr>
          <p:cNvPr id="412" name="WF_SearchZone"/>
          <p:cNvSpPr/>
          <p:nvPr/>
        </p:nvSpPr>
        <p:spPr>
          <a:xfrm>
            <a:off x="1778000" y="3746500"/>
            <a:ext cx="8636000" cy="40640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3" name="WF_SearchIcon"/>
          <p:cNvSpPr/>
          <p:nvPr/>
        </p:nvSpPr>
        <p:spPr>
          <a:xfrm>
            <a:off x="2032000" y="3873500"/>
            <a:ext cx="152400" cy="152400"/>
          </a:xfrm>
          <a:prstGeom prst="ellipse">
            <a:avLst/>
          </a:prstGeom>
          <a:noFill/>
          <a:ln w="6350">
            <a:solidFill>
              <a:srgbClr val="B5B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4" name="WF_SearchBtn"/>
          <p:cNvSpPr/>
          <p:nvPr/>
        </p:nvSpPr>
        <p:spPr>
          <a:xfrm>
            <a:off x="9702800" y="3810000"/>
            <a:ext cx="635000" cy="27940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9525">
            <a:solidFill>
              <a:srgbClr val="E8EA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5" name="WF_SearchBtn_Lbl"/>
          <p:cNvSpPr txBox="1"/>
          <p:nvPr/>
        </p:nvSpPr>
        <p:spPr>
          <a:xfrm>
            <a:off x="9702800" y="38100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E8EAF1"/>
                </a:solidFill>
                <a:latin typeface="맑은 고딕"/>
                <a:ea typeface="맑은 고딕"/>
              </a:rPr>
              <a:t>버튼</a:t>
            </a:r>
          </a:p>
        </p:txBody>
      </p:sp>
      <p:sp>
        <p:nvSpPr>
          <p:cNvPr id="416" name="WF_Search_Lbl"/>
          <p:cNvSpPr txBox="1"/>
          <p:nvPr/>
        </p:nvSpPr>
        <p:spPr>
          <a:xfrm>
            <a:off x="2286000" y="38100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040"/>
              </a:lnSpc>
            </a:pPr>
            <a:r>
              <a:rPr lang="ko-KR" sz="800" dirty="0">
                <a:solidFill>
                  <a:srgbClr val="B5B9CC"/>
                </a:solidFill>
                <a:latin typeface="맑은 고딕"/>
                <a:ea typeface="맑은 고딕"/>
              </a:rPr>
              <a:t>URL 입력 영역</a:t>
            </a:r>
          </a:p>
        </p:txBody>
      </p:sp>
      <p:sp>
        <p:nvSpPr>
          <p:cNvPr id="424" name="WF_IlluZone"/>
          <p:cNvSpPr/>
          <p:nvPr/>
        </p:nvSpPr>
        <p:spPr>
          <a:xfrm>
            <a:off x="10033000" y="5397500"/>
            <a:ext cx="1270000" cy="762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25" name="WF_Illu_Lbl"/>
          <p:cNvSpPr txBox="1"/>
          <p:nvPr/>
        </p:nvSpPr>
        <p:spPr>
          <a:xfrm>
            <a:off x="10033000" y="53975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040"/>
              </a:lnSpc>
            </a:pPr>
            <a:r>
              <a:rPr lang="ko-KR" sz="800" dirty="0">
                <a:solidFill>
                  <a:srgbClr val="B5B9CC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426" name="WF_Caption"/>
          <p:cNvSpPr txBox="1"/>
          <p:nvPr/>
        </p:nvSpPr>
        <p:spPr>
          <a:xfrm>
            <a:off x="762000" y="6362700"/>
            <a:ext cx="10668000" cy="177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ts val="1040"/>
              </a:lnSpc>
            </a:pPr>
            <a:r>
              <a:rPr lang="ko-KR" sz="800" spc="100" dirty="0">
                <a:solidFill>
                  <a:srgbClr val="B5B9CC"/>
                </a:solidFill>
                <a:latin typeface="Consolas"/>
                <a:ea typeface="Consolas"/>
              </a:rPr>
              <a:t>Wireframe 01 · Search Screen — Loading</a:t>
            </a:r>
          </a:p>
        </p:txBody>
      </p:sp>
    </p:spTree>
    <p:extLst>
      <p:ext uri="{BB962C8B-B14F-4D97-AF65-F5344CB8AC3E}">
        <p14:creationId xmlns:p14="http://schemas.microsoft.com/office/powerpoint/2010/main" val="348787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06 · WIREFRAME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06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144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ko-KR" sz="900" b="1" spc="200" dirty="0">
                <a:solidFill>
                  <a:srgbClr val="1A1A1E"/>
                </a:solidFill>
                <a:latin typeface="Consolas"/>
              </a:rPr>
              <a:t>06 · 와이어프레임 / SCREEN 2 —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35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  <a:buNone/>
            </a:pPr>
            <a:r>
              <a:rPr lang="ko-KR" altLang="en-US" sz="2400" b="1" dirty="0">
                <a:solidFill>
                  <a:srgbClr val="1A1A1E"/>
                </a:solidFill>
                <a:latin typeface="맑은 고딕"/>
                <a:ea typeface="맑은 고딕"/>
              </a:rPr>
              <a:t>보고서 요약</a:t>
            </a:r>
            <a:endParaRPr lang="ko-KR" sz="2400" b="1" dirty="0">
              <a:solidFill>
                <a:srgbClr val="1A1A1E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1970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ko-KR" sz="1200" dirty="0">
                <a:solidFill>
                  <a:srgbClr val="4A4A52"/>
                </a:solidFill>
                <a:latin typeface="맑은 고딕"/>
                <a:ea typeface="맑은 고딕"/>
              </a:rPr>
              <a:t>요약 카드는 인용 카운트 </a:t>
            </a:r>
            <a:r>
              <a:rPr lang="ko-KR" sz="1200" dirty="0" err="1">
                <a:solidFill>
                  <a:srgbClr val="4A4A52"/>
                </a:solidFill>
                <a:latin typeface="맑은 고딕"/>
                <a:ea typeface="맑은 고딕"/>
              </a:rPr>
              <a:t>뱃지</a:t>
            </a:r>
            <a:r>
              <a:rPr lang="ko-KR" sz="1200" dirty="0">
                <a:solidFill>
                  <a:srgbClr val="4A4A52"/>
                </a:solidFill>
                <a:latin typeface="맑은 고딕"/>
                <a:ea typeface="맑은 고딕"/>
              </a:rPr>
              <a:t>,</a:t>
            </a:r>
            <a:r>
              <a:rPr lang="en-US" altLang="ko-KR" sz="1200" dirty="0">
                <a:solidFill>
                  <a:srgbClr val="4A4A52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dirty="0">
                <a:solidFill>
                  <a:srgbClr val="4A4A52"/>
                </a:solidFill>
                <a:latin typeface="맑은 고딕"/>
                <a:ea typeface="맑은 고딕"/>
              </a:rPr>
              <a:t>자세히 열기 버튼</a:t>
            </a:r>
            <a:endParaRPr lang="ko-KR" sz="1200" dirty="0">
              <a:solidFill>
                <a:srgbClr val="4A4A52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08</a:t>
            </a:r>
          </a:p>
        </p:txBody>
      </p:sp>
      <p:sp>
        <p:nvSpPr>
          <p:cNvPr id="400" name="WF_Outer"/>
          <p:cNvSpPr/>
          <p:nvPr/>
        </p:nvSpPr>
        <p:spPr>
          <a:xfrm>
            <a:off x="762000" y="2222500"/>
            <a:ext cx="10668000" cy="4064000"/>
          </a:xfrm>
          <a:prstGeom prst="rect">
            <a:avLst/>
          </a:prstGeom>
          <a:solidFill>
            <a:srgbClr val="0F1320"/>
          </a:solidFill>
          <a:ln w="1270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1" name="WF_NavZone"/>
          <p:cNvSpPr/>
          <p:nvPr/>
        </p:nvSpPr>
        <p:spPr>
          <a:xfrm>
            <a:off x="762000" y="2222500"/>
            <a:ext cx="10668000" cy="35560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2" name="WF_Logo"/>
          <p:cNvSpPr/>
          <p:nvPr/>
        </p:nvSpPr>
        <p:spPr>
          <a:xfrm>
            <a:off x="990600" y="2324100"/>
            <a:ext cx="10160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3" name="WF_Logo_Lbl"/>
          <p:cNvSpPr txBox="1"/>
          <p:nvPr/>
        </p:nvSpPr>
        <p:spPr>
          <a:xfrm>
            <a:off x="990600" y="2324100"/>
            <a:ext cx="10160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로고</a:t>
            </a:r>
          </a:p>
        </p:txBody>
      </p:sp>
      <p:sp>
        <p:nvSpPr>
          <p:cNvPr id="404" name="WF_Menu_0"/>
          <p:cNvSpPr/>
          <p:nvPr/>
        </p:nvSpPr>
        <p:spPr>
          <a:xfrm>
            <a:off x="10566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5" name="WF_Menu_1"/>
          <p:cNvSpPr/>
          <p:nvPr/>
        </p:nvSpPr>
        <p:spPr>
          <a:xfrm>
            <a:off x="9931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6" name="WF_Menu_2"/>
          <p:cNvSpPr/>
          <p:nvPr/>
        </p:nvSpPr>
        <p:spPr>
          <a:xfrm>
            <a:off x="9296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7" name="WF_Menu_3"/>
          <p:cNvSpPr/>
          <p:nvPr/>
        </p:nvSpPr>
        <p:spPr>
          <a:xfrm>
            <a:off x="8661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8" name="WF_Menu_4"/>
          <p:cNvSpPr/>
          <p:nvPr/>
        </p:nvSpPr>
        <p:spPr>
          <a:xfrm>
            <a:off x="8026400" y="2324100"/>
            <a:ext cx="5588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9" name="WF_Menu_Lbl"/>
          <p:cNvSpPr txBox="1"/>
          <p:nvPr/>
        </p:nvSpPr>
        <p:spPr>
          <a:xfrm>
            <a:off x="8026400" y="2324100"/>
            <a:ext cx="31496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글로벌 네비</a:t>
            </a:r>
          </a:p>
        </p:txBody>
      </p:sp>
      <p:sp>
        <p:nvSpPr>
          <p:cNvPr id="410" name="WF_HeadZone"/>
          <p:cNvSpPr/>
          <p:nvPr/>
        </p:nvSpPr>
        <p:spPr>
          <a:xfrm>
            <a:off x="2032000" y="2921000"/>
            <a:ext cx="8128000" cy="508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11" name="WF_Head_Lbl"/>
          <p:cNvSpPr txBox="1"/>
          <p:nvPr/>
        </p:nvSpPr>
        <p:spPr>
          <a:xfrm>
            <a:off x="2032000" y="2921000"/>
            <a:ext cx="812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170"/>
              </a:lnSpc>
            </a:pPr>
            <a:r>
              <a:rPr lang="ko-KR" sz="900" dirty="0">
                <a:solidFill>
                  <a:srgbClr val="E8EAF1"/>
                </a:solidFill>
                <a:latin typeface="맑은 고딕"/>
                <a:ea typeface="맑은 고딕"/>
              </a:rPr>
              <a:t>헤드라인 영역</a:t>
            </a:r>
          </a:p>
        </p:txBody>
      </p:sp>
      <p:sp>
        <p:nvSpPr>
          <p:cNvPr id="412" name="WF_SearchZone"/>
          <p:cNvSpPr/>
          <p:nvPr/>
        </p:nvSpPr>
        <p:spPr>
          <a:xfrm>
            <a:off x="1778000" y="3619500"/>
            <a:ext cx="8636000" cy="38100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3" name="WF_SearchIcon"/>
          <p:cNvSpPr/>
          <p:nvPr/>
        </p:nvSpPr>
        <p:spPr>
          <a:xfrm>
            <a:off x="2032000" y="3733800"/>
            <a:ext cx="152400" cy="152400"/>
          </a:xfrm>
          <a:prstGeom prst="ellipse">
            <a:avLst/>
          </a:prstGeom>
          <a:noFill/>
          <a:ln w="6350">
            <a:solidFill>
              <a:srgbClr val="B5B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4" name="WF_SearchBtn"/>
          <p:cNvSpPr/>
          <p:nvPr/>
        </p:nvSpPr>
        <p:spPr>
          <a:xfrm>
            <a:off x="9702800" y="3670300"/>
            <a:ext cx="635000" cy="27940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 w="9525">
            <a:solidFill>
              <a:srgbClr val="E8EA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5" name="WF_SearchBtn_Lbl"/>
          <p:cNvSpPr txBox="1"/>
          <p:nvPr/>
        </p:nvSpPr>
        <p:spPr>
          <a:xfrm>
            <a:off x="9702800" y="36703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E8EAF1"/>
                </a:solidFill>
                <a:latin typeface="맑은 고딕"/>
                <a:ea typeface="맑은 고딕"/>
              </a:rPr>
              <a:t>버튼</a:t>
            </a:r>
          </a:p>
        </p:txBody>
      </p:sp>
      <p:sp>
        <p:nvSpPr>
          <p:cNvPr id="416" name="WF_Search_Lbl"/>
          <p:cNvSpPr txBox="1"/>
          <p:nvPr/>
        </p:nvSpPr>
        <p:spPr>
          <a:xfrm>
            <a:off x="2286000" y="36703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040"/>
              </a:lnSpc>
            </a:pPr>
            <a:r>
              <a:rPr lang="ko-KR" sz="800" dirty="0">
                <a:solidFill>
                  <a:srgbClr val="B5B9CC"/>
                </a:solidFill>
                <a:latin typeface="맑은 고딕"/>
                <a:ea typeface="맑은 고딕"/>
              </a:rPr>
              <a:t>URL 입력 영역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535861F-B9EE-9944-B5B5-DDECC1AB963A}"/>
              </a:ext>
            </a:extLst>
          </p:cNvPr>
          <p:cNvGrpSpPr/>
          <p:nvPr/>
        </p:nvGrpSpPr>
        <p:grpSpPr>
          <a:xfrm>
            <a:off x="3609976" y="4372596"/>
            <a:ext cx="4286250" cy="965372"/>
            <a:chOff x="1914525" y="4254499"/>
            <a:chExt cx="8499475" cy="1428499"/>
          </a:xfrm>
        </p:grpSpPr>
        <p:sp>
          <p:nvSpPr>
            <p:cNvPr id="417" name="WF_CardZone"/>
            <p:cNvSpPr/>
            <p:nvPr/>
          </p:nvSpPr>
          <p:spPr>
            <a:xfrm>
              <a:off x="1914525" y="4254499"/>
              <a:ext cx="8499475" cy="1428499"/>
            </a:xfrm>
            <a:prstGeom prst="rect">
              <a:avLst/>
            </a:prstGeom>
            <a:solidFill>
              <a:srgbClr val="1A1F2E"/>
            </a:solidFill>
            <a:ln w="6350">
              <a:solidFill>
                <a:srgbClr val="3A4258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WF_Card_Meta"/>
            <p:cNvSpPr txBox="1"/>
            <p:nvPr/>
          </p:nvSpPr>
          <p:spPr>
            <a:xfrm>
              <a:off x="2006600" y="4432300"/>
              <a:ext cx="2540000" cy="1270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ts val="910"/>
                </a:lnSpc>
              </a:pPr>
              <a:r>
                <a:rPr lang="ko-KR" sz="700" dirty="0">
                  <a:solidFill>
                    <a:srgbClr val="B5B9CC"/>
                  </a:solidFill>
                  <a:latin typeface="맑은 고딕"/>
                  <a:ea typeface="맑은 고딕"/>
                </a:rPr>
                <a:t>출처 · 인용 카운트</a:t>
              </a:r>
            </a:p>
          </p:txBody>
        </p:sp>
        <p:sp>
          <p:nvSpPr>
            <p:cNvPr id="419" name="WF_Badge"/>
            <p:cNvSpPr/>
            <p:nvPr/>
          </p:nvSpPr>
          <p:spPr>
            <a:xfrm>
              <a:off x="4508500" y="4406900"/>
              <a:ext cx="889000" cy="177800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rgbClr val="5B9BD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WF_Badge_Lbl"/>
            <p:cNvSpPr txBox="1"/>
            <p:nvPr/>
          </p:nvSpPr>
          <p:spPr>
            <a:xfrm>
              <a:off x="4508500" y="4406900"/>
              <a:ext cx="889000" cy="1778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ts val="910"/>
                </a:lnSpc>
              </a:pPr>
              <a:r>
                <a:rPr lang="ko-KR" sz="700" dirty="0">
                  <a:solidFill>
                    <a:srgbClr val="5B9BD5"/>
                  </a:solidFill>
                  <a:latin typeface="맑은 고딕"/>
                  <a:ea typeface="맑은 고딕"/>
                </a:rPr>
                <a:t>인용 뱃지</a:t>
              </a:r>
            </a:p>
          </p:txBody>
        </p:sp>
        <p:sp>
          <p:nvSpPr>
            <p:cNvPr id="421" name="WF_Card_Title"/>
            <p:cNvSpPr txBox="1"/>
            <p:nvPr/>
          </p:nvSpPr>
          <p:spPr>
            <a:xfrm>
              <a:off x="2006600" y="4660900"/>
              <a:ext cx="6350000" cy="203200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>
                <a:lnSpc>
                  <a:spcPts val="1300"/>
                </a:lnSpc>
              </a:pPr>
              <a:r>
                <a:rPr lang="ko-KR" sz="1000" b="1" dirty="0">
                  <a:solidFill>
                    <a:srgbClr val="E8EAF1"/>
                  </a:solidFill>
                  <a:latin typeface="맑은 고딕"/>
                  <a:ea typeface="맑은 고딕"/>
                </a:rPr>
                <a:t>기사 제목 영역</a:t>
              </a:r>
            </a:p>
          </p:txBody>
        </p:sp>
        <p:sp>
          <p:nvSpPr>
            <p:cNvPr id="422" name="WF_Bullet_Line0"/>
            <p:cNvSpPr/>
            <p:nvPr/>
          </p:nvSpPr>
          <p:spPr>
            <a:xfrm>
              <a:off x="2006600" y="5029200"/>
              <a:ext cx="76200" cy="19050"/>
            </a:xfrm>
            <a:prstGeom prst="rect">
              <a:avLst/>
            </a:prstGeom>
            <a:solidFill>
              <a:srgbClr val="B5B9C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WF_Bullet_Zone0"/>
            <p:cNvSpPr/>
            <p:nvPr/>
          </p:nvSpPr>
          <p:spPr>
            <a:xfrm>
              <a:off x="2159000" y="4965700"/>
              <a:ext cx="6096000" cy="139700"/>
            </a:xfrm>
            <a:prstGeom prst="rect">
              <a:avLst/>
            </a:prstGeom>
            <a:noFill/>
            <a:ln w="5080">
              <a:solidFill>
                <a:srgbClr val="3A4258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WF_Bullet_Line1"/>
            <p:cNvSpPr/>
            <p:nvPr/>
          </p:nvSpPr>
          <p:spPr>
            <a:xfrm>
              <a:off x="2006600" y="5207000"/>
              <a:ext cx="76200" cy="19050"/>
            </a:xfrm>
            <a:prstGeom prst="rect">
              <a:avLst/>
            </a:prstGeom>
            <a:solidFill>
              <a:srgbClr val="B5B9C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WF_Bullet_Zone1"/>
            <p:cNvSpPr/>
            <p:nvPr/>
          </p:nvSpPr>
          <p:spPr>
            <a:xfrm>
              <a:off x="2159000" y="5143500"/>
              <a:ext cx="6096000" cy="139700"/>
            </a:xfrm>
            <a:prstGeom prst="rect">
              <a:avLst/>
            </a:prstGeom>
            <a:noFill/>
            <a:ln w="5080">
              <a:solidFill>
                <a:srgbClr val="3A4258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WF_Bullet_Line2"/>
            <p:cNvSpPr/>
            <p:nvPr/>
          </p:nvSpPr>
          <p:spPr>
            <a:xfrm>
              <a:off x="2006600" y="5384800"/>
              <a:ext cx="76200" cy="19050"/>
            </a:xfrm>
            <a:prstGeom prst="rect">
              <a:avLst/>
            </a:prstGeom>
            <a:solidFill>
              <a:srgbClr val="B5B9C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WF_Bullet_Zone2"/>
            <p:cNvSpPr/>
            <p:nvPr/>
          </p:nvSpPr>
          <p:spPr>
            <a:xfrm>
              <a:off x="2159000" y="5321300"/>
              <a:ext cx="6096000" cy="139700"/>
            </a:xfrm>
            <a:prstGeom prst="rect">
              <a:avLst/>
            </a:prstGeom>
            <a:noFill/>
            <a:ln w="5080">
              <a:solidFill>
                <a:srgbClr val="3A4258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WF_Bullet_Lbl"/>
            <p:cNvSpPr txBox="1"/>
            <p:nvPr/>
          </p:nvSpPr>
          <p:spPr>
            <a:xfrm>
              <a:off x="2159000" y="4965700"/>
              <a:ext cx="6096000" cy="1397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ts val="910"/>
                </a:lnSpc>
              </a:pPr>
              <a:r>
                <a:rPr lang="ko-KR" sz="700" dirty="0">
                  <a:solidFill>
                    <a:srgbClr val="B5B9CC"/>
                  </a:solidFill>
                  <a:latin typeface="맑은 고딕"/>
                  <a:ea typeface="맑은 고딕"/>
                </a:rPr>
                <a:t>요약 불릿 (3행)</a:t>
              </a:r>
            </a:p>
          </p:txBody>
        </p:sp>
        <p:sp>
          <p:nvSpPr>
            <p:cNvPr id="429" name="WF_PrimaryCTA"/>
            <p:cNvSpPr/>
            <p:nvPr/>
          </p:nvSpPr>
          <p:spPr>
            <a:xfrm>
              <a:off x="8636000" y="4660900"/>
              <a:ext cx="1524000" cy="406400"/>
            </a:xfrm>
            <a:prstGeom prst="roundRect">
              <a:avLst>
                <a:gd name="adj" fmla="val 30000"/>
              </a:avLst>
            </a:prstGeom>
            <a:solidFill>
              <a:srgbClr val="5B9BD5"/>
            </a:solidFill>
            <a:ln w="12700">
              <a:solidFill>
                <a:srgbClr val="5B9BD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WF_PrimaryCTA_Lbl"/>
            <p:cNvSpPr txBox="1"/>
            <p:nvPr/>
          </p:nvSpPr>
          <p:spPr>
            <a:xfrm>
              <a:off x="8636000" y="4660900"/>
              <a:ext cx="1524000" cy="4064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ts val="1170"/>
                </a:lnSpc>
              </a:pPr>
              <a:r>
                <a:rPr lang="ko-KR" sz="900" b="1" dirty="0">
                  <a:solidFill>
                    <a:srgbClr val="0F1320"/>
                  </a:solidFill>
                  <a:latin typeface="맑은 고딕"/>
                  <a:ea typeface="맑은 고딕"/>
                </a:rPr>
                <a:t>Primary CTA</a:t>
              </a:r>
            </a:p>
          </p:txBody>
        </p:sp>
        <p:sp>
          <p:nvSpPr>
            <p:cNvPr id="431" name="WF_CloseLink"/>
            <p:cNvSpPr txBox="1"/>
            <p:nvPr/>
          </p:nvSpPr>
          <p:spPr>
            <a:xfrm>
              <a:off x="8636000" y="5168900"/>
              <a:ext cx="1524000" cy="1524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ts val="910"/>
                </a:lnSpc>
              </a:pPr>
              <a:r>
                <a:rPr lang="ko-KR" sz="700" dirty="0">
                  <a:solidFill>
                    <a:srgbClr val="B5B9CC"/>
                  </a:solidFill>
                  <a:latin typeface="맑은 고딕"/>
                  <a:ea typeface="맑은 고딕"/>
                </a:rPr>
                <a:t>닫기</a:t>
              </a:r>
            </a:p>
          </p:txBody>
        </p:sp>
      </p:grpSp>
      <p:sp>
        <p:nvSpPr>
          <p:cNvPr id="432" name="WF_IlluZone"/>
          <p:cNvSpPr/>
          <p:nvPr/>
        </p:nvSpPr>
        <p:spPr>
          <a:xfrm>
            <a:off x="10033000" y="5397500"/>
            <a:ext cx="1270000" cy="762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3" name="WF_Illu_Lbl"/>
          <p:cNvSpPr txBox="1"/>
          <p:nvPr/>
        </p:nvSpPr>
        <p:spPr>
          <a:xfrm>
            <a:off x="10033000" y="53975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040"/>
              </a:lnSpc>
            </a:pPr>
            <a:r>
              <a:rPr lang="ko-KR" sz="800" dirty="0">
                <a:solidFill>
                  <a:srgbClr val="B5B9CC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434" name="WF_Caption"/>
          <p:cNvSpPr txBox="1"/>
          <p:nvPr/>
        </p:nvSpPr>
        <p:spPr>
          <a:xfrm>
            <a:off x="762000" y="6362700"/>
            <a:ext cx="10668000" cy="177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ts val="1040"/>
              </a:lnSpc>
            </a:pPr>
            <a:r>
              <a:rPr lang="ko-KR" sz="800" spc="100" dirty="0">
                <a:solidFill>
                  <a:srgbClr val="B5B9CC"/>
                </a:solidFill>
                <a:latin typeface="Consolas"/>
                <a:ea typeface="Consolas"/>
              </a:rPr>
              <a:t>Wireframe 02 · Search Screen — Result</a:t>
            </a:r>
          </a:p>
        </p:txBody>
      </p:sp>
    </p:spTree>
    <p:extLst>
      <p:ext uri="{BB962C8B-B14F-4D97-AF65-F5344CB8AC3E}">
        <p14:creationId xmlns:p14="http://schemas.microsoft.com/office/powerpoint/2010/main" val="351104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061" y="-1270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07 · WIREFRAME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07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135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00"/>
              </a:lnSpc>
              <a:buNone/>
            </a:pPr>
            <a:r>
              <a:rPr lang="ko-KR" sz="900" b="1" spc="300" dirty="0">
                <a:solidFill>
                  <a:srgbClr val="C9A84F"/>
                </a:solidFill>
                <a:latin typeface="Consolas"/>
                <a:ea typeface="맑은 고딕"/>
              </a:rPr>
              <a:t>07 · WIREFRAME / SCREEN 3 —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35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0"/>
              </a:lnSpc>
              <a:buNone/>
            </a:pPr>
            <a:r>
              <a:rPr lang="ko-KR" sz="2400" b="1" dirty="0">
                <a:solidFill>
                  <a:srgbClr val="1F2937"/>
                </a:solidFill>
                <a:latin typeface="맑은 고딕"/>
                <a:ea typeface="맑은 고딕"/>
              </a:rPr>
              <a:t>보고서 뷰어 — 좌측 본문, 우측 정형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ko-KR" sz="1200" dirty="0">
                <a:solidFill>
                  <a:srgbClr val="6B7280"/>
                </a:solidFill>
                <a:latin typeface="맑은 고딕"/>
                <a:ea typeface="맑은 고딕"/>
              </a:rPr>
              <a:t>보고서가 열린 기본 뷰. 좌측엔 본문과 인용 마커, 우측엔 탭 3종과 정형 데이터 카드.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000" y="6443999"/>
            <a:ext cx="1584000" cy="14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07</a:t>
            </a:r>
          </a:p>
        </p:txBody>
      </p:sp>
      <p:sp>
        <p:nvSpPr>
          <p:cNvPr id="400" name="WF_Outer"/>
          <p:cNvSpPr/>
          <p:nvPr/>
        </p:nvSpPr>
        <p:spPr>
          <a:xfrm>
            <a:off x="762000" y="2222500"/>
            <a:ext cx="10668000" cy="4064000"/>
          </a:xfrm>
          <a:prstGeom prst="rect">
            <a:avLst/>
          </a:prstGeom>
          <a:solidFill>
            <a:srgbClr val="0F1320"/>
          </a:solidFill>
          <a:ln w="1270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1" name="WF_TopBar"/>
          <p:cNvSpPr/>
          <p:nvPr/>
        </p:nvSpPr>
        <p:spPr>
          <a:xfrm>
            <a:off x="762000" y="2222500"/>
            <a:ext cx="10668000" cy="30480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2" name="WF_BackBtn"/>
          <p:cNvSpPr/>
          <p:nvPr/>
        </p:nvSpPr>
        <p:spPr>
          <a:xfrm>
            <a:off x="914400" y="2298700"/>
            <a:ext cx="177800" cy="152400"/>
          </a:xfrm>
          <a:prstGeom prst="roundRect">
            <a:avLst>
              <a:gd name="adj" fmla="val 3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3" name="WF_Crumb"/>
          <p:cNvSpPr/>
          <p:nvPr/>
        </p:nvSpPr>
        <p:spPr>
          <a:xfrm>
            <a:off x="1168400" y="2298700"/>
            <a:ext cx="35560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4" name="WF_Crumb_Lbl"/>
          <p:cNvSpPr txBox="1"/>
          <p:nvPr/>
        </p:nvSpPr>
        <p:spPr>
          <a:xfrm>
            <a:off x="1168400" y="2298700"/>
            <a:ext cx="35560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브레드크럼</a:t>
            </a:r>
          </a:p>
        </p:txBody>
      </p:sp>
      <p:sp>
        <p:nvSpPr>
          <p:cNvPr id="405" name="WF_TopIcon_0"/>
          <p:cNvSpPr/>
          <p:nvPr/>
        </p:nvSpPr>
        <p:spPr>
          <a:xfrm>
            <a:off x="109982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6" name="WF_TopIcon_1"/>
          <p:cNvSpPr/>
          <p:nvPr/>
        </p:nvSpPr>
        <p:spPr>
          <a:xfrm>
            <a:off x="107188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7" name="WF_TopIcon_2"/>
          <p:cNvSpPr/>
          <p:nvPr/>
        </p:nvSpPr>
        <p:spPr>
          <a:xfrm>
            <a:off x="104394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8" name="WF_TopIcon_3"/>
          <p:cNvSpPr/>
          <p:nvPr/>
        </p:nvSpPr>
        <p:spPr>
          <a:xfrm>
            <a:off x="101600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09" name="WF_TopIcon_Lbl"/>
          <p:cNvSpPr txBox="1"/>
          <p:nvPr/>
        </p:nvSpPr>
        <p:spPr>
          <a:xfrm>
            <a:off x="10033000" y="2298700"/>
            <a:ext cx="11430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툴바</a:t>
            </a:r>
          </a:p>
        </p:txBody>
      </p:sp>
      <p:sp>
        <p:nvSpPr>
          <p:cNvPr id="435" name="WF_RightPanel"/>
          <p:cNvSpPr/>
          <p:nvPr/>
        </p:nvSpPr>
        <p:spPr>
          <a:xfrm>
            <a:off x="7408164" y="2705100"/>
            <a:ext cx="3793236" cy="335280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6" name="WF_Tab_0"/>
          <p:cNvSpPr/>
          <p:nvPr/>
        </p:nvSpPr>
        <p:spPr>
          <a:xfrm>
            <a:off x="7509764" y="2806700"/>
            <a:ext cx="1145879" cy="177800"/>
          </a:xfrm>
          <a:prstGeom prst="rect">
            <a:avLst/>
          </a:prstGeom>
          <a:noFill/>
          <a:ln w="1016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7" name="WF_TabActive_0"/>
          <p:cNvSpPr/>
          <p:nvPr/>
        </p:nvSpPr>
        <p:spPr>
          <a:xfrm>
            <a:off x="7509764" y="2984500"/>
            <a:ext cx="1145879" cy="190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8" name="WF_Tab_1"/>
          <p:cNvSpPr/>
          <p:nvPr/>
        </p:nvSpPr>
        <p:spPr>
          <a:xfrm>
            <a:off x="8706443" y="2806700"/>
            <a:ext cx="1145879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39" name="WF_Tab_2"/>
          <p:cNvSpPr/>
          <p:nvPr/>
        </p:nvSpPr>
        <p:spPr>
          <a:xfrm>
            <a:off x="9903121" y="2806700"/>
            <a:ext cx="1145879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0" name="WF_Tab_Lbl"/>
          <p:cNvSpPr txBox="1"/>
          <p:nvPr/>
        </p:nvSpPr>
        <p:spPr>
          <a:xfrm>
            <a:off x="7509764" y="2806700"/>
            <a:ext cx="3590036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845"/>
              </a:lnSpc>
            </a:pPr>
            <a:r>
              <a:rPr lang="ko-KR" sz="650" dirty="0">
                <a:solidFill>
                  <a:srgbClr val="B5B9CC"/>
                </a:solidFill>
                <a:latin typeface="맑은 고딕"/>
                <a:ea typeface="맑은 고딕"/>
              </a:rPr>
              <a:t>탭 3종 (정형 / 그래프 / 원문)</a:t>
            </a:r>
          </a:p>
        </p:txBody>
      </p:sp>
      <p:sp>
        <p:nvSpPr>
          <p:cNvPr id="441" name="WF_PanelCard_0"/>
          <p:cNvSpPr/>
          <p:nvPr/>
        </p:nvSpPr>
        <p:spPr>
          <a:xfrm>
            <a:off x="7535164" y="3162300"/>
            <a:ext cx="3539236" cy="762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2" name="WF_PanelCard_0_Hdr"/>
          <p:cNvSpPr/>
          <p:nvPr/>
        </p:nvSpPr>
        <p:spPr>
          <a:xfrm>
            <a:off x="7585964" y="3238500"/>
            <a:ext cx="3437636" cy="177800"/>
          </a:xfrm>
          <a:prstGeom prst="rect">
            <a:avLst/>
          </a:prstGeom>
          <a:noFill/>
          <a:ln w="381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3" name="WF_PanelCard_0_Body"/>
          <p:cNvSpPr/>
          <p:nvPr/>
        </p:nvSpPr>
        <p:spPr>
          <a:xfrm>
            <a:off x="7585964" y="3467100"/>
            <a:ext cx="3437636" cy="381000"/>
          </a:xfrm>
          <a:prstGeom prst="rect">
            <a:avLst/>
          </a:prstGeom>
          <a:solidFill>
            <a:srgbClr val="0F13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4" name="WF_PanelCard_0_Row_1"/>
          <p:cNvSpPr/>
          <p:nvPr/>
        </p:nvSpPr>
        <p:spPr>
          <a:xfrm>
            <a:off x="7585964" y="3594100"/>
            <a:ext cx="3437636" cy="63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5" name="WF_PanelCard_0_Row_2"/>
          <p:cNvSpPr/>
          <p:nvPr/>
        </p:nvSpPr>
        <p:spPr>
          <a:xfrm>
            <a:off x="7585964" y="3721100"/>
            <a:ext cx="3437636" cy="63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6" name="WF_PanelCard_1"/>
          <p:cNvSpPr/>
          <p:nvPr/>
        </p:nvSpPr>
        <p:spPr>
          <a:xfrm>
            <a:off x="7535164" y="4013200"/>
            <a:ext cx="3539236" cy="762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7" name="WF_PanelCard_1_Hdr"/>
          <p:cNvSpPr/>
          <p:nvPr/>
        </p:nvSpPr>
        <p:spPr>
          <a:xfrm>
            <a:off x="7585964" y="4089400"/>
            <a:ext cx="3437636" cy="177800"/>
          </a:xfrm>
          <a:prstGeom prst="rect">
            <a:avLst/>
          </a:prstGeom>
          <a:noFill/>
          <a:ln w="381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48" name="WF_PanelCard_1_Body"/>
          <p:cNvSpPr/>
          <p:nvPr/>
        </p:nvSpPr>
        <p:spPr>
          <a:xfrm>
            <a:off x="7585964" y="4318000"/>
            <a:ext cx="3437636" cy="381000"/>
          </a:xfrm>
          <a:prstGeom prst="rect">
            <a:avLst/>
          </a:prstGeom>
          <a:solidFill>
            <a:srgbClr val="0F13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9" name="WF_PanelCard_1_Row_1"/>
          <p:cNvSpPr/>
          <p:nvPr/>
        </p:nvSpPr>
        <p:spPr>
          <a:xfrm>
            <a:off x="7585964" y="4445000"/>
            <a:ext cx="3437636" cy="63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0" name="WF_PanelCard_1_Row_2"/>
          <p:cNvSpPr/>
          <p:nvPr/>
        </p:nvSpPr>
        <p:spPr>
          <a:xfrm>
            <a:off x="7585964" y="4572000"/>
            <a:ext cx="3437636" cy="63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1" name="WF_PanelCard_2"/>
          <p:cNvSpPr/>
          <p:nvPr/>
        </p:nvSpPr>
        <p:spPr>
          <a:xfrm>
            <a:off x="7535164" y="4864100"/>
            <a:ext cx="3539236" cy="762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52" name="WF_PanelCard_2_Hdr"/>
          <p:cNvSpPr/>
          <p:nvPr/>
        </p:nvSpPr>
        <p:spPr>
          <a:xfrm>
            <a:off x="7585964" y="4940300"/>
            <a:ext cx="3437636" cy="177800"/>
          </a:xfrm>
          <a:prstGeom prst="rect">
            <a:avLst/>
          </a:prstGeom>
          <a:noFill/>
          <a:ln w="381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53" name="WF_PanelCard_2_Body"/>
          <p:cNvSpPr/>
          <p:nvPr/>
        </p:nvSpPr>
        <p:spPr>
          <a:xfrm>
            <a:off x="7585964" y="5168900"/>
            <a:ext cx="3437636" cy="381000"/>
          </a:xfrm>
          <a:prstGeom prst="rect">
            <a:avLst/>
          </a:prstGeom>
          <a:solidFill>
            <a:srgbClr val="0F13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4" name="WF_PanelCard_2_Row_1"/>
          <p:cNvSpPr/>
          <p:nvPr/>
        </p:nvSpPr>
        <p:spPr>
          <a:xfrm>
            <a:off x="7585964" y="5295900"/>
            <a:ext cx="3437636" cy="63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5" name="WF_PanelCard_2_Row_2"/>
          <p:cNvSpPr/>
          <p:nvPr/>
        </p:nvSpPr>
        <p:spPr>
          <a:xfrm>
            <a:off x="7585964" y="5422900"/>
            <a:ext cx="3437636" cy="63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6" name="WF_Panel_Lbl"/>
          <p:cNvSpPr txBox="1"/>
          <p:nvPr/>
        </p:nvSpPr>
        <p:spPr>
          <a:xfrm>
            <a:off x="7535164" y="3162300"/>
            <a:ext cx="3539236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정형 데이터 카드 (n)</a:t>
            </a:r>
          </a:p>
        </p:txBody>
      </p:sp>
      <p:sp>
        <p:nvSpPr>
          <p:cNvPr id="457" name="WF_Caption"/>
          <p:cNvSpPr txBox="1"/>
          <p:nvPr/>
        </p:nvSpPr>
        <p:spPr>
          <a:xfrm>
            <a:off x="762000" y="6362700"/>
            <a:ext cx="10668000" cy="177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ts val="1040"/>
              </a:lnSpc>
            </a:pPr>
            <a:r>
              <a:rPr lang="ko-KR" sz="800" spc="100" dirty="0">
                <a:solidFill>
                  <a:srgbClr val="B5B9CC"/>
                </a:solidFill>
                <a:latin typeface="Consolas"/>
                <a:ea typeface="Consolas"/>
              </a:rPr>
              <a:t>Wireframe 03 · Report Viewer</a:t>
            </a:r>
          </a:p>
        </p:txBody>
      </p:sp>
      <p:sp>
        <p:nvSpPr>
          <p:cNvPr id="10" name="WF_LeftCard">
            <a:extLst>
              <a:ext uri="{FF2B5EF4-FFF2-40B4-BE49-F238E27FC236}">
                <a16:creationId xmlns:a16="http://schemas.microsoft.com/office/drawing/2014/main" id="{47C55739-8616-0725-CD35-C53857B0B793}"/>
              </a:ext>
            </a:extLst>
          </p:cNvPr>
          <p:cNvSpPr/>
          <p:nvPr/>
        </p:nvSpPr>
        <p:spPr>
          <a:xfrm>
            <a:off x="990600" y="2705100"/>
            <a:ext cx="5490210" cy="335280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WF_LeftHdr_L1">
            <a:extLst>
              <a:ext uri="{FF2B5EF4-FFF2-40B4-BE49-F238E27FC236}">
                <a16:creationId xmlns:a16="http://schemas.microsoft.com/office/drawing/2014/main" id="{355BC427-EE97-FDBC-48F8-2076D8B2BF33}"/>
              </a:ext>
            </a:extLst>
          </p:cNvPr>
          <p:cNvSpPr/>
          <p:nvPr/>
        </p:nvSpPr>
        <p:spPr>
          <a:xfrm>
            <a:off x="1168400" y="2882900"/>
            <a:ext cx="1397000" cy="1270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2" name="WF_LeftHdr_L2">
            <a:extLst>
              <a:ext uri="{FF2B5EF4-FFF2-40B4-BE49-F238E27FC236}">
                <a16:creationId xmlns:a16="http://schemas.microsoft.com/office/drawing/2014/main" id="{5825B95D-2FD9-8EAA-09EB-4493A3A53CEE}"/>
              </a:ext>
            </a:extLst>
          </p:cNvPr>
          <p:cNvSpPr/>
          <p:nvPr/>
        </p:nvSpPr>
        <p:spPr>
          <a:xfrm>
            <a:off x="5033010" y="2882900"/>
            <a:ext cx="1270000" cy="1270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WF_LeftHdr_L1_Lbl">
            <a:extLst>
              <a:ext uri="{FF2B5EF4-FFF2-40B4-BE49-F238E27FC236}">
                <a16:creationId xmlns:a16="http://schemas.microsoft.com/office/drawing/2014/main" id="{B9201526-F95E-6D03-0EF7-3BE7FDFE5715}"/>
              </a:ext>
            </a:extLst>
          </p:cNvPr>
          <p:cNvSpPr txBox="1"/>
          <p:nvPr/>
        </p:nvSpPr>
        <p:spPr>
          <a:xfrm>
            <a:off x="1168400" y="2882900"/>
            <a:ext cx="1397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메타</a:t>
            </a:r>
          </a:p>
        </p:txBody>
      </p:sp>
      <p:sp>
        <p:nvSpPr>
          <p:cNvPr id="14" name="WF_LeftHdr_L2_Lbl">
            <a:extLst>
              <a:ext uri="{FF2B5EF4-FFF2-40B4-BE49-F238E27FC236}">
                <a16:creationId xmlns:a16="http://schemas.microsoft.com/office/drawing/2014/main" id="{2EB1FAA8-E548-9AC2-B797-386A62235D87}"/>
              </a:ext>
            </a:extLst>
          </p:cNvPr>
          <p:cNvSpPr txBox="1"/>
          <p:nvPr/>
        </p:nvSpPr>
        <p:spPr>
          <a:xfrm>
            <a:off x="5033010" y="2882900"/>
            <a:ext cx="1270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발행일·ID</a:t>
            </a:r>
          </a:p>
        </p:txBody>
      </p:sp>
      <p:sp>
        <p:nvSpPr>
          <p:cNvPr id="15" name="WF_LeftTitle">
            <a:extLst>
              <a:ext uri="{FF2B5EF4-FFF2-40B4-BE49-F238E27FC236}">
                <a16:creationId xmlns:a16="http://schemas.microsoft.com/office/drawing/2014/main" id="{BCC1DADC-421D-CBD9-F549-652381DABADD}"/>
              </a:ext>
            </a:extLst>
          </p:cNvPr>
          <p:cNvSpPr/>
          <p:nvPr/>
        </p:nvSpPr>
        <p:spPr>
          <a:xfrm>
            <a:off x="1168400" y="3187700"/>
            <a:ext cx="5134610" cy="254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6" name="WF_LeftTitle_Lbl">
            <a:extLst>
              <a:ext uri="{FF2B5EF4-FFF2-40B4-BE49-F238E27FC236}">
                <a16:creationId xmlns:a16="http://schemas.microsoft.com/office/drawing/2014/main" id="{D6F911AA-2361-8DB5-7D92-87DE11F352C1}"/>
              </a:ext>
            </a:extLst>
          </p:cNvPr>
          <p:cNvSpPr txBox="1"/>
          <p:nvPr/>
        </p:nvSpPr>
        <p:spPr>
          <a:xfrm>
            <a:off x="1168400" y="3187700"/>
            <a:ext cx="513461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</a:pPr>
            <a:r>
              <a:rPr lang="ko-KR" sz="1000" b="1" dirty="0">
                <a:solidFill>
                  <a:srgbClr val="E8EAF1"/>
                </a:solidFill>
                <a:latin typeface="맑은 고딕"/>
                <a:ea typeface="맑은 고딕"/>
              </a:rPr>
              <a:t>보고서 제목</a:t>
            </a:r>
          </a:p>
        </p:txBody>
      </p:sp>
      <p:sp>
        <p:nvSpPr>
          <p:cNvPr id="17" name="WF_Body_P0_L0">
            <a:extLst>
              <a:ext uri="{FF2B5EF4-FFF2-40B4-BE49-F238E27FC236}">
                <a16:creationId xmlns:a16="http://schemas.microsoft.com/office/drawing/2014/main" id="{45544226-8669-D952-5DAD-31930A6A6CF5}"/>
              </a:ext>
            </a:extLst>
          </p:cNvPr>
          <p:cNvSpPr/>
          <p:nvPr/>
        </p:nvSpPr>
        <p:spPr>
          <a:xfrm>
            <a:off x="1168400" y="35941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WF_Body_P0_L1">
            <a:extLst>
              <a:ext uri="{FF2B5EF4-FFF2-40B4-BE49-F238E27FC236}">
                <a16:creationId xmlns:a16="http://schemas.microsoft.com/office/drawing/2014/main" id="{8351FEC0-8462-CD7D-C6F0-6791D2DEFF55}"/>
              </a:ext>
            </a:extLst>
          </p:cNvPr>
          <p:cNvSpPr/>
          <p:nvPr/>
        </p:nvSpPr>
        <p:spPr>
          <a:xfrm>
            <a:off x="1168400" y="36957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WF_Cite_P0_A">
            <a:extLst>
              <a:ext uri="{FF2B5EF4-FFF2-40B4-BE49-F238E27FC236}">
                <a16:creationId xmlns:a16="http://schemas.microsoft.com/office/drawing/2014/main" id="{5FF99786-B25A-460F-EB5E-86454131C2EA}"/>
              </a:ext>
            </a:extLst>
          </p:cNvPr>
          <p:cNvSpPr/>
          <p:nvPr/>
        </p:nvSpPr>
        <p:spPr>
          <a:xfrm>
            <a:off x="5414010" y="37084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WF_Cite_P0_B">
            <a:extLst>
              <a:ext uri="{FF2B5EF4-FFF2-40B4-BE49-F238E27FC236}">
                <a16:creationId xmlns:a16="http://schemas.microsoft.com/office/drawing/2014/main" id="{5EE9042F-BA7D-4DD6-1540-A4F12B84E296}"/>
              </a:ext>
            </a:extLst>
          </p:cNvPr>
          <p:cNvSpPr/>
          <p:nvPr/>
        </p:nvSpPr>
        <p:spPr>
          <a:xfrm>
            <a:off x="5591810" y="37084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WF_Body_P1_L0">
            <a:extLst>
              <a:ext uri="{FF2B5EF4-FFF2-40B4-BE49-F238E27FC236}">
                <a16:creationId xmlns:a16="http://schemas.microsoft.com/office/drawing/2014/main" id="{5BB10A46-161B-686E-1969-916F40A850C6}"/>
              </a:ext>
            </a:extLst>
          </p:cNvPr>
          <p:cNvSpPr/>
          <p:nvPr/>
        </p:nvSpPr>
        <p:spPr>
          <a:xfrm>
            <a:off x="1168400" y="38989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WF_Body_P1_L1">
            <a:extLst>
              <a:ext uri="{FF2B5EF4-FFF2-40B4-BE49-F238E27FC236}">
                <a16:creationId xmlns:a16="http://schemas.microsoft.com/office/drawing/2014/main" id="{A67255AE-C824-DF7D-39EF-B0044495E35C}"/>
              </a:ext>
            </a:extLst>
          </p:cNvPr>
          <p:cNvSpPr/>
          <p:nvPr/>
        </p:nvSpPr>
        <p:spPr>
          <a:xfrm>
            <a:off x="1168400" y="40005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WF_Cite_P1_A">
            <a:extLst>
              <a:ext uri="{FF2B5EF4-FFF2-40B4-BE49-F238E27FC236}">
                <a16:creationId xmlns:a16="http://schemas.microsoft.com/office/drawing/2014/main" id="{DB7B708B-B064-5B08-1A46-6AA03FB52307}"/>
              </a:ext>
            </a:extLst>
          </p:cNvPr>
          <p:cNvSpPr/>
          <p:nvPr/>
        </p:nvSpPr>
        <p:spPr>
          <a:xfrm>
            <a:off x="5414010" y="40132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WF_Cite_P1_B">
            <a:extLst>
              <a:ext uri="{FF2B5EF4-FFF2-40B4-BE49-F238E27FC236}">
                <a16:creationId xmlns:a16="http://schemas.microsoft.com/office/drawing/2014/main" id="{6D28BC07-6B2B-D316-CA64-3432E53EBA1B}"/>
              </a:ext>
            </a:extLst>
          </p:cNvPr>
          <p:cNvSpPr/>
          <p:nvPr/>
        </p:nvSpPr>
        <p:spPr>
          <a:xfrm>
            <a:off x="5591810" y="40132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WF_Body_P2_L0">
            <a:extLst>
              <a:ext uri="{FF2B5EF4-FFF2-40B4-BE49-F238E27FC236}">
                <a16:creationId xmlns:a16="http://schemas.microsoft.com/office/drawing/2014/main" id="{E493471B-6011-C984-C286-C4232540DD84}"/>
              </a:ext>
            </a:extLst>
          </p:cNvPr>
          <p:cNvSpPr/>
          <p:nvPr/>
        </p:nvSpPr>
        <p:spPr>
          <a:xfrm>
            <a:off x="1168400" y="42037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WF_Body_P2_L1">
            <a:extLst>
              <a:ext uri="{FF2B5EF4-FFF2-40B4-BE49-F238E27FC236}">
                <a16:creationId xmlns:a16="http://schemas.microsoft.com/office/drawing/2014/main" id="{E4387C47-8E29-A675-6002-F315C56CDFF7}"/>
              </a:ext>
            </a:extLst>
          </p:cNvPr>
          <p:cNvSpPr/>
          <p:nvPr/>
        </p:nvSpPr>
        <p:spPr>
          <a:xfrm>
            <a:off x="1168400" y="43053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WF_Cite_P2_A">
            <a:extLst>
              <a:ext uri="{FF2B5EF4-FFF2-40B4-BE49-F238E27FC236}">
                <a16:creationId xmlns:a16="http://schemas.microsoft.com/office/drawing/2014/main" id="{033CB986-F9DE-687F-1E14-5F7E789EBD93}"/>
              </a:ext>
            </a:extLst>
          </p:cNvPr>
          <p:cNvSpPr/>
          <p:nvPr/>
        </p:nvSpPr>
        <p:spPr>
          <a:xfrm>
            <a:off x="5414010" y="43180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WF_Cite_P2_B">
            <a:extLst>
              <a:ext uri="{FF2B5EF4-FFF2-40B4-BE49-F238E27FC236}">
                <a16:creationId xmlns:a16="http://schemas.microsoft.com/office/drawing/2014/main" id="{18827543-2D3E-C857-814B-0C63A6D772D0}"/>
              </a:ext>
            </a:extLst>
          </p:cNvPr>
          <p:cNvSpPr/>
          <p:nvPr/>
        </p:nvSpPr>
        <p:spPr>
          <a:xfrm>
            <a:off x="5591810" y="43180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WF_Body_P3_L0">
            <a:extLst>
              <a:ext uri="{FF2B5EF4-FFF2-40B4-BE49-F238E27FC236}">
                <a16:creationId xmlns:a16="http://schemas.microsoft.com/office/drawing/2014/main" id="{AF3C0D59-3F84-CBCB-EDCB-2AB9EF6376D2}"/>
              </a:ext>
            </a:extLst>
          </p:cNvPr>
          <p:cNvSpPr/>
          <p:nvPr/>
        </p:nvSpPr>
        <p:spPr>
          <a:xfrm>
            <a:off x="1168400" y="45085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WF_Body_P3_L1">
            <a:extLst>
              <a:ext uri="{FF2B5EF4-FFF2-40B4-BE49-F238E27FC236}">
                <a16:creationId xmlns:a16="http://schemas.microsoft.com/office/drawing/2014/main" id="{C1FEB876-218A-7C50-BDF0-8364CE81B10B}"/>
              </a:ext>
            </a:extLst>
          </p:cNvPr>
          <p:cNvSpPr/>
          <p:nvPr/>
        </p:nvSpPr>
        <p:spPr>
          <a:xfrm>
            <a:off x="1168400" y="46101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WF_Body_Lbl">
            <a:extLst>
              <a:ext uri="{FF2B5EF4-FFF2-40B4-BE49-F238E27FC236}">
                <a16:creationId xmlns:a16="http://schemas.microsoft.com/office/drawing/2014/main" id="{38AB12FF-AB91-F346-04FF-CD20109912A0}"/>
              </a:ext>
            </a:extLst>
          </p:cNvPr>
          <p:cNvSpPr txBox="1"/>
          <p:nvPr/>
        </p:nvSpPr>
        <p:spPr>
          <a:xfrm>
            <a:off x="1168400" y="3594100"/>
            <a:ext cx="177800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본문 + 인용 마커</a:t>
            </a:r>
          </a:p>
        </p:txBody>
      </p:sp>
      <p:sp>
        <p:nvSpPr>
          <p:cNvPr id="32" name="WF_QuoteBar">
            <a:extLst>
              <a:ext uri="{FF2B5EF4-FFF2-40B4-BE49-F238E27FC236}">
                <a16:creationId xmlns:a16="http://schemas.microsoft.com/office/drawing/2014/main" id="{87B33FFE-8C7E-15B8-477D-05C4F6AE9AF1}"/>
              </a:ext>
            </a:extLst>
          </p:cNvPr>
          <p:cNvSpPr/>
          <p:nvPr/>
        </p:nvSpPr>
        <p:spPr>
          <a:xfrm>
            <a:off x="1168400" y="5524500"/>
            <a:ext cx="25400" cy="279400"/>
          </a:xfrm>
          <a:prstGeom prst="rect">
            <a:avLst/>
          </a:prstGeom>
          <a:solidFill>
            <a:srgbClr val="B5B9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WF_QuoteZone">
            <a:extLst>
              <a:ext uri="{FF2B5EF4-FFF2-40B4-BE49-F238E27FC236}">
                <a16:creationId xmlns:a16="http://schemas.microsoft.com/office/drawing/2014/main" id="{FC1B0EC4-7D80-E9F2-53D4-29F08F7E8E52}"/>
              </a:ext>
            </a:extLst>
          </p:cNvPr>
          <p:cNvSpPr/>
          <p:nvPr/>
        </p:nvSpPr>
        <p:spPr>
          <a:xfrm>
            <a:off x="1270000" y="5524500"/>
            <a:ext cx="5033010" cy="2794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4" name="WF_Quote_Lbl">
            <a:extLst>
              <a:ext uri="{FF2B5EF4-FFF2-40B4-BE49-F238E27FC236}">
                <a16:creationId xmlns:a16="http://schemas.microsoft.com/office/drawing/2014/main" id="{3BC177EB-FE77-3566-E987-F36C78BE2302}"/>
              </a:ext>
            </a:extLst>
          </p:cNvPr>
          <p:cNvSpPr txBox="1"/>
          <p:nvPr/>
        </p:nvSpPr>
        <p:spPr>
          <a:xfrm>
            <a:off x="1270000" y="5524500"/>
            <a:ext cx="503301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인용구 영역</a:t>
            </a:r>
          </a:p>
        </p:txBody>
      </p:sp>
    </p:spTree>
    <p:extLst>
      <p:ext uri="{BB962C8B-B14F-4D97-AF65-F5344CB8AC3E}">
        <p14:creationId xmlns:p14="http://schemas.microsoft.com/office/powerpoint/2010/main" val="286965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08 · WIREFRAME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08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135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00"/>
              </a:lnSpc>
              <a:buNone/>
            </a:pPr>
            <a:r>
              <a:rPr lang="ko-KR" sz="900" b="1" spc="300" dirty="0">
                <a:solidFill>
                  <a:srgbClr val="C9A84F"/>
                </a:solidFill>
                <a:latin typeface="Consolas"/>
                <a:ea typeface="맑은 고딕"/>
              </a:rPr>
              <a:t>08 · WIREFRAME / SCREEN 4 — CITATION DRAWER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35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0"/>
              </a:lnSpc>
              <a:buNone/>
            </a:pPr>
            <a:r>
              <a:rPr lang="ko-KR" sz="2400" b="1" dirty="0">
                <a:solidFill>
                  <a:srgbClr val="1F2937"/>
                </a:solidFill>
                <a:latin typeface="맑은 고딕"/>
                <a:ea typeface="맑은 고딕"/>
              </a:rPr>
              <a:t>인용 인덱스 </a:t>
            </a:r>
            <a:r>
              <a:rPr lang="ko-KR" sz="2400" b="1" dirty="0" err="1">
                <a:solidFill>
                  <a:srgbClr val="1F2937"/>
                </a:solidFill>
                <a:latin typeface="맑은 고딕"/>
                <a:ea typeface="맑은 고딕"/>
              </a:rPr>
              <a:t>드로어</a:t>
            </a:r>
            <a:endParaRPr lang="ko-KR" sz="2400" b="1" dirty="0">
              <a:solidFill>
                <a:srgbClr val="1F2937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ko-KR" sz="1200" dirty="0">
                <a:solidFill>
                  <a:srgbClr val="6B7280"/>
                </a:solidFill>
                <a:latin typeface="맑은 고딕"/>
                <a:ea typeface="맑은 고딕"/>
              </a:rPr>
              <a:t>원문 탭을 누르면 13건의 인용 인덱스 카드가 우측에 펼쳐진다.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000" y="6443999"/>
            <a:ext cx="1584000" cy="14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08</a:t>
            </a:r>
          </a:p>
        </p:txBody>
      </p:sp>
      <p:sp>
        <p:nvSpPr>
          <p:cNvPr id="600" name="WF_Outer"/>
          <p:cNvSpPr/>
          <p:nvPr/>
        </p:nvSpPr>
        <p:spPr>
          <a:xfrm>
            <a:off x="762000" y="2222500"/>
            <a:ext cx="10668000" cy="4064000"/>
          </a:xfrm>
          <a:prstGeom prst="rect">
            <a:avLst/>
          </a:prstGeom>
          <a:solidFill>
            <a:srgbClr val="0F1320"/>
          </a:solidFill>
          <a:ln w="1270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1" name="WF_TopBar"/>
          <p:cNvSpPr/>
          <p:nvPr/>
        </p:nvSpPr>
        <p:spPr>
          <a:xfrm>
            <a:off x="762000" y="2222500"/>
            <a:ext cx="10668000" cy="30480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2" name="WF_BackBtn"/>
          <p:cNvSpPr/>
          <p:nvPr/>
        </p:nvSpPr>
        <p:spPr>
          <a:xfrm>
            <a:off x="914400" y="2298700"/>
            <a:ext cx="177800" cy="152400"/>
          </a:xfrm>
          <a:prstGeom prst="roundRect">
            <a:avLst>
              <a:gd name="adj" fmla="val 3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03" name="WF_Crumb"/>
          <p:cNvSpPr/>
          <p:nvPr/>
        </p:nvSpPr>
        <p:spPr>
          <a:xfrm>
            <a:off x="1168400" y="2298700"/>
            <a:ext cx="35560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04" name="WF_Crumb_Lbl"/>
          <p:cNvSpPr txBox="1"/>
          <p:nvPr/>
        </p:nvSpPr>
        <p:spPr>
          <a:xfrm>
            <a:off x="1168400" y="2298700"/>
            <a:ext cx="35560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브레드크럼</a:t>
            </a:r>
          </a:p>
        </p:txBody>
      </p:sp>
      <p:sp>
        <p:nvSpPr>
          <p:cNvPr id="605" name="WF_TopIcon_0"/>
          <p:cNvSpPr/>
          <p:nvPr/>
        </p:nvSpPr>
        <p:spPr>
          <a:xfrm>
            <a:off x="109982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06" name="WF_TopIcon_1"/>
          <p:cNvSpPr/>
          <p:nvPr/>
        </p:nvSpPr>
        <p:spPr>
          <a:xfrm>
            <a:off x="107188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07" name="WF_TopIcon_2"/>
          <p:cNvSpPr/>
          <p:nvPr/>
        </p:nvSpPr>
        <p:spPr>
          <a:xfrm>
            <a:off x="104394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08" name="WF_TopIcon_3"/>
          <p:cNvSpPr/>
          <p:nvPr/>
        </p:nvSpPr>
        <p:spPr>
          <a:xfrm>
            <a:off x="10160000" y="2298700"/>
            <a:ext cx="203200" cy="152400"/>
          </a:xfrm>
          <a:prstGeom prst="roundRect">
            <a:avLst>
              <a:gd name="adj" fmla="val 20000"/>
            </a:avLst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09" name="WF_TopIcon_Lbl"/>
          <p:cNvSpPr txBox="1"/>
          <p:nvPr/>
        </p:nvSpPr>
        <p:spPr>
          <a:xfrm>
            <a:off x="10033000" y="2298700"/>
            <a:ext cx="1143000" cy="152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툴바</a:t>
            </a:r>
          </a:p>
        </p:txBody>
      </p:sp>
      <p:sp>
        <p:nvSpPr>
          <p:cNvPr id="610" name="WF_LeftCard"/>
          <p:cNvSpPr/>
          <p:nvPr/>
        </p:nvSpPr>
        <p:spPr>
          <a:xfrm>
            <a:off x="990600" y="2705100"/>
            <a:ext cx="5490210" cy="3352800"/>
          </a:xfrm>
          <a:prstGeom prst="rect">
            <a:avLst/>
          </a:prstGeom>
          <a:solidFill>
            <a:srgbClr val="1A1F2E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1" name="WF_LeftHdr_L1"/>
          <p:cNvSpPr/>
          <p:nvPr/>
        </p:nvSpPr>
        <p:spPr>
          <a:xfrm>
            <a:off x="1168400" y="2882900"/>
            <a:ext cx="1397000" cy="1270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12" name="WF_LeftHdr_L2"/>
          <p:cNvSpPr/>
          <p:nvPr/>
        </p:nvSpPr>
        <p:spPr>
          <a:xfrm>
            <a:off x="5033010" y="2882900"/>
            <a:ext cx="1270000" cy="1270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13" name="WF_LeftHdr_L1_Lbl"/>
          <p:cNvSpPr txBox="1"/>
          <p:nvPr/>
        </p:nvSpPr>
        <p:spPr>
          <a:xfrm>
            <a:off x="1168400" y="2882900"/>
            <a:ext cx="1397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메타</a:t>
            </a:r>
          </a:p>
        </p:txBody>
      </p:sp>
      <p:sp>
        <p:nvSpPr>
          <p:cNvPr id="614" name="WF_LeftHdr_L2_Lbl"/>
          <p:cNvSpPr txBox="1"/>
          <p:nvPr/>
        </p:nvSpPr>
        <p:spPr>
          <a:xfrm>
            <a:off x="5033010" y="2882900"/>
            <a:ext cx="1270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발행일·ID</a:t>
            </a:r>
          </a:p>
        </p:txBody>
      </p:sp>
      <p:sp>
        <p:nvSpPr>
          <p:cNvPr id="615" name="WF_LeftTitle"/>
          <p:cNvSpPr/>
          <p:nvPr/>
        </p:nvSpPr>
        <p:spPr>
          <a:xfrm>
            <a:off x="1168400" y="3187700"/>
            <a:ext cx="5134610" cy="2540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16" name="WF_LeftTitle_Lbl"/>
          <p:cNvSpPr txBox="1"/>
          <p:nvPr/>
        </p:nvSpPr>
        <p:spPr>
          <a:xfrm>
            <a:off x="1168400" y="3187700"/>
            <a:ext cx="513461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1300"/>
              </a:lnSpc>
            </a:pPr>
            <a:r>
              <a:rPr lang="ko-KR" sz="1000" b="1" dirty="0">
                <a:solidFill>
                  <a:srgbClr val="E8EAF1"/>
                </a:solidFill>
                <a:latin typeface="맑은 고딕"/>
                <a:ea typeface="맑은 고딕"/>
              </a:rPr>
              <a:t>보고서 제목</a:t>
            </a:r>
          </a:p>
        </p:txBody>
      </p:sp>
      <p:sp>
        <p:nvSpPr>
          <p:cNvPr id="617" name="WF_Body_P0_L0"/>
          <p:cNvSpPr/>
          <p:nvPr/>
        </p:nvSpPr>
        <p:spPr>
          <a:xfrm>
            <a:off x="1168400" y="35941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8" name="WF_Body_P0_L1"/>
          <p:cNvSpPr/>
          <p:nvPr/>
        </p:nvSpPr>
        <p:spPr>
          <a:xfrm>
            <a:off x="1168400" y="36957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9" name="WF_Cite_P0_A"/>
          <p:cNvSpPr/>
          <p:nvPr/>
        </p:nvSpPr>
        <p:spPr>
          <a:xfrm>
            <a:off x="5414010" y="37084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0" name="WF_Cite_P0_B"/>
          <p:cNvSpPr/>
          <p:nvPr/>
        </p:nvSpPr>
        <p:spPr>
          <a:xfrm>
            <a:off x="5591810" y="37084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1" name="WF_Body_P1_L0"/>
          <p:cNvSpPr/>
          <p:nvPr/>
        </p:nvSpPr>
        <p:spPr>
          <a:xfrm>
            <a:off x="1168400" y="38989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2" name="WF_Body_P1_L1"/>
          <p:cNvSpPr/>
          <p:nvPr/>
        </p:nvSpPr>
        <p:spPr>
          <a:xfrm>
            <a:off x="1168400" y="40005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3" name="WF_Cite_P1_A"/>
          <p:cNvSpPr/>
          <p:nvPr/>
        </p:nvSpPr>
        <p:spPr>
          <a:xfrm>
            <a:off x="5414010" y="40132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4" name="WF_Cite_P1_B"/>
          <p:cNvSpPr/>
          <p:nvPr/>
        </p:nvSpPr>
        <p:spPr>
          <a:xfrm>
            <a:off x="5591810" y="40132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5" name="WF_Body_P2_L0"/>
          <p:cNvSpPr/>
          <p:nvPr/>
        </p:nvSpPr>
        <p:spPr>
          <a:xfrm>
            <a:off x="1168400" y="42037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6" name="WF_Body_P2_L1"/>
          <p:cNvSpPr/>
          <p:nvPr/>
        </p:nvSpPr>
        <p:spPr>
          <a:xfrm>
            <a:off x="1168400" y="43053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7" name="WF_Cite_P2_A"/>
          <p:cNvSpPr/>
          <p:nvPr/>
        </p:nvSpPr>
        <p:spPr>
          <a:xfrm>
            <a:off x="5414010" y="43180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8" name="WF_Cite_P2_B"/>
          <p:cNvSpPr/>
          <p:nvPr/>
        </p:nvSpPr>
        <p:spPr>
          <a:xfrm>
            <a:off x="5591810" y="4318000"/>
            <a:ext cx="1270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9" name="WF_Body_P3_L0"/>
          <p:cNvSpPr/>
          <p:nvPr/>
        </p:nvSpPr>
        <p:spPr>
          <a:xfrm>
            <a:off x="1168400" y="4508500"/>
            <a:ext cx="5134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0" name="WF_Body_P3_L1"/>
          <p:cNvSpPr/>
          <p:nvPr/>
        </p:nvSpPr>
        <p:spPr>
          <a:xfrm>
            <a:off x="1168400" y="4610100"/>
            <a:ext cx="4372610" cy="508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1" name="WF_Body_Lbl"/>
          <p:cNvSpPr txBox="1"/>
          <p:nvPr/>
        </p:nvSpPr>
        <p:spPr>
          <a:xfrm>
            <a:off x="1168400" y="3594100"/>
            <a:ext cx="177800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본문 + 인용 마커</a:t>
            </a:r>
          </a:p>
        </p:txBody>
      </p:sp>
      <p:sp>
        <p:nvSpPr>
          <p:cNvPr id="632" name="WF_QuoteBar"/>
          <p:cNvSpPr/>
          <p:nvPr/>
        </p:nvSpPr>
        <p:spPr>
          <a:xfrm>
            <a:off x="1168400" y="5524500"/>
            <a:ext cx="25400" cy="279400"/>
          </a:xfrm>
          <a:prstGeom prst="rect">
            <a:avLst/>
          </a:prstGeom>
          <a:solidFill>
            <a:srgbClr val="B5B9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WF_QuoteZone"/>
          <p:cNvSpPr/>
          <p:nvPr/>
        </p:nvSpPr>
        <p:spPr>
          <a:xfrm>
            <a:off x="1270000" y="5524500"/>
            <a:ext cx="5033010" cy="2794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4" name="WF_Quote_Lbl"/>
          <p:cNvSpPr txBox="1"/>
          <p:nvPr/>
        </p:nvSpPr>
        <p:spPr>
          <a:xfrm>
            <a:off x="1270000" y="5524500"/>
            <a:ext cx="503301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dirty="0">
                <a:solidFill>
                  <a:srgbClr val="B5B9CC"/>
                </a:solidFill>
                <a:latin typeface="맑은 고딕"/>
                <a:ea typeface="맑은 고딕"/>
              </a:rPr>
              <a:t>인용구 영역</a:t>
            </a:r>
          </a:p>
        </p:txBody>
      </p:sp>
      <p:sp>
        <p:nvSpPr>
          <p:cNvPr id="636" name="WF_Tab_0"/>
          <p:cNvSpPr/>
          <p:nvPr/>
        </p:nvSpPr>
        <p:spPr>
          <a:xfrm>
            <a:off x="6811010" y="2806700"/>
            <a:ext cx="1378797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7" name="WF_Tab_1"/>
          <p:cNvSpPr/>
          <p:nvPr/>
        </p:nvSpPr>
        <p:spPr>
          <a:xfrm>
            <a:off x="8240607" y="2806700"/>
            <a:ext cx="1378797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8" name="WF_Tab_2"/>
          <p:cNvSpPr/>
          <p:nvPr/>
        </p:nvSpPr>
        <p:spPr>
          <a:xfrm>
            <a:off x="9670203" y="2806700"/>
            <a:ext cx="1378797" cy="177800"/>
          </a:xfrm>
          <a:prstGeom prst="rect">
            <a:avLst/>
          </a:prstGeom>
          <a:noFill/>
          <a:ln w="10160">
            <a:solidFill>
              <a:srgbClr val="C9A84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9" name="WF_TabActive_2"/>
          <p:cNvSpPr/>
          <p:nvPr/>
        </p:nvSpPr>
        <p:spPr>
          <a:xfrm>
            <a:off x="9670203" y="2984500"/>
            <a:ext cx="1378797" cy="19050"/>
          </a:xfrm>
          <a:prstGeom prst="rect">
            <a:avLst/>
          </a:prstGeom>
          <a:solidFill>
            <a:srgbClr val="C9A8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WF_Tab_Lbl"/>
          <p:cNvSpPr txBox="1"/>
          <p:nvPr/>
        </p:nvSpPr>
        <p:spPr>
          <a:xfrm>
            <a:off x="6811010" y="2806700"/>
            <a:ext cx="428879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845"/>
              </a:lnSpc>
            </a:pPr>
            <a:r>
              <a:rPr lang="ko-KR" sz="650" dirty="0">
                <a:solidFill>
                  <a:srgbClr val="B5B9CC"/>
                </a:solidFill>
                <a:latin typeface="맑은 고딕"/>
                <a:ea typeface="맑은 고딕"/>
              </a:rPr>
              <a:t>탭: 정형 / 그래프 / [원문✓]</a:t>
            </a:r>
          </a:p>
        </p:txBody>
      </p:sp>
      <p:sp>
        <p:nvSpPr>
          <p:cNvPr id="641" name="WF_DrawerHdr"/>
          <p:cNvSpPr/>
          <p:nvPr/>
        </p:nvSpPr>
        <p:spPr>
          <a:xfrm>
            <a:off x="6836410" y="3162300"/>
            <a:ext cx="4237990" cy="203200"/>
          </a:xfrm>
          <a:prstGeom prst="rect">
            <a:avLst/>
          </a:prstGeom>
          <a:noFill/>
          <a:ln w="635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42" name="WF_DrawerHdr_Lbl"/>
          <p:cNvSpPr txBox="1"/>
          <p:nvPr/>
        </p:nvSpPr>
        <p:spPr>
          <a:xfrm>
            <a:off x="6836410" y="3162300"/>
            <a:ext cx="423799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910"/>
              </a:lnSpc>
            </a:pPr>
            <a:r>
              <a:rPr lang="ko-KR" sz="700" b="1" dirty="0">
                <a:solidFill>
                  <a:srgbClr val="E8EAF1"/>
                </a:solidFill>
                <a:latin typeface="맑은 고딕"/>
                <a:ea typeface="맑은 고딕"/>
              </a:rPr>
              <a:t>인용 인덱스 (n건)</a:t>
            </a:r>
          </a:p>
        </p:txBody>
      </p:sp>
      <p:sp>
        <p:nvSpPr>
          <p:cNvPr id="643" name="WF_CatLbl_0"/>
          <p:cNvSpPr/>
          <p:nvPr/>
        </p:nvSpPr>
        <p:spPr>
          <a:xfrm>
            <a:off x="6836410" y="3441700"/>
            <a:ext cx="4237990" cy="127000"/>
          </a:xfrm>
          <a:prstGeom prst="rect">
            <a:avLst/>
          </a:prstGeom>
          <a:noFill/>
          <a:ln w="381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44" name="WF_CatLbl_0_T"/>
          <p:cNvSpPr txBox="1"/>
          <p:nvPr/>
        </p:nvSpPr>
        <p:spPr>
          <a:xfrm>
            <a:off x="6887210" y="3441700"/>
            <a:ext cx="413639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ts val="845"/>
              </a:lnSpc>
            </a:pPr>
            <a:r>
              <a:rPr lang="ko-KR" sz="650" dirty="0">
                <a:solidFill>
                  <a:srgbClr val="B5B9CC"/>
                </a:solidFill>
                <a:latin typeface="맑은 고딕"/>
                <a:ea typeface="맑은 고딕"/>
              </a:rPr>
              <a:t>카테고리 1</a:t>
            </a:r>
          </a:p>
        </p:txBody>
      </p:sp>
      <p:sp>
        <p:nvSpPr>
          <p:cNvPr id="645" name="WF_CiteCard_0_0"/>
          <p:cNvSpPr/>
          <p:nvPr/>
        </p:nvSpPr>
        <p:spPr>
          <a:xfrm>
            <a:off x="6836410" y="36068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46" name="WF_CiteNum_0_0"/>
          <p:cNvSpPr/>
          <p:nvPr/>
        </p:nvSpPr>
        <p:spPr>
          <a:xfrm>
            <a:off x="6887210" y="36449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7" name="WF_CiteTitle_0_0"/>
          <p:cNvSpPr/>
          <p:nvPr/>
        </p:nvSpPr>
        <p:spPr>
          <a:xfrm>
            <a:off x="7090410" y="36576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8" name="WF_CiteSrc_0_0"/>
          <p:cNvSpPr/>
          <p:nvPr/>
        </p:nvSpPr>
        <p:spPr>
          <a:xfrm>
            <a:off x="7090410" y="37211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9" name="WF_CiteCard_0_1"/>
          <p:cNvSpPr/>
          <p:nvPr/>
        </p:nvSpPr>
        <p:spPr>
          <a:xfrm>
            <a:off x="6836410" y="38227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50" name="WF_CiteNum_0_1"/>
          <p:cNvSpPr/>
          <p:nvPr/>
        </p:nvSpPr>
        <p:spPr>
          <a:xfrm>
            <a:off x="6887210" y="38608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1" name="WF_CiteTitle_0_1"/>
          <p:cNvSpPr/>
          <p:nvPr/>
        </p:nvSpPr>
        <p:spPr>
          <a:xfrm>
            <a:off x="7090410" y="38735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2" name="WF_CiteSrc_0_1"/>
          <p:cNvSpPr/>
          <p:nvPr/>
        </p:nvSpPr>
        <p:spPr>
          <a:xfrm>
            <a:off x="7090410" y="39370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3" name="WF_CiteCard_0_2"/>
          <p:cNvSpPr/>
          <p:nvPr/>
        </p:nvSpPr>
        <p:spPr>
          <a:xfrm>
            <a:off x="6836410" y="40386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54" name="WF_CiteNum_0_2"/>
          <p:cNvSpPr/>
          <p:nvPr/>
        </p:nvSpPr>
        <p:spPr>
          <a:xfrm>
            <a:off x="6887210" y="40767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5" name="WF_CiteTitle_0_2"/>
          <p:cNvSpPr/>
          <p:nvPr/>
        </p:nvSpPr>
        <p:spPr>
          <a:xfrm>
            <a:off x="7090410" y="40894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6" name="WF_CiteSrc_0_2"/>
          <p:cNvSpPr/>
          <p:nvPr/>
        </p:nvSpPr>
        <p:spPr>
          <a:xfrm>
            <a:off x="7090410" y="41529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7" name="WF_CiteCard_0_3"/>
          <p:cNvSpPr/>
          <p:nvPr/>
        </p:nvSpPr>
        <p:spPr>
          <a:xfrm>
            <a:off x="6836410" y="42545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58" name="WF_CiteNum_0_3"/>
          <p:cNvSpPr/>
          <p:nvPr/>
        </p:nvSpPr>
        <p:spPr>
          <a:xfrm>
            <a:off x="6887210" y="42926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9" name="WF_CiteTitle_0_3"/>
          <p:cNvSpPr/>
          <p:nvPr/>
        </p:nvSpPr>
        <p:spPr>
          <a:xfrm>
            <a:off x="7090410" y="43053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0" name="WF_CiteSrc_0_3"/>
          <p:cNvSpPr/>
          <p:nvPr/>
        </p:nvSpPr>
        <p:spPr>
          <a:xfrm>
            <a:off x="7090410" y="43688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1" name="WF_CatLbl_1"/>
          <p:cNvSpPr/>
          <p:nvPr/>
        </p:nvSpPr>
        <p:spPr>
          <a:xfrm>
            <a:off x="6836410" y="4495800"/>
            <a:ext cx="4237990" cy="127000"/>
          </a:xfrm>
          <a:prstGeom prst="rect">
            <a:avLst/>
          </a:prstGeom>
          <a:noFill/>
          <a:ln w="381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62" name="WF_CatLbl_1_T"/>
          <p:cNvSpPr txBox="1"/>
          <p:nvPr/>
        </p:nvSpPr>
        <p:spPr>
          <a:xfrm>
            <a:off x="6887210" y="4495800"/>
            <a:ext cx="413639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ts val="845"/>
              </a:lnSpc>
            </a:pPr>
            <a:r>
              <a:rPr lang="ko-KR" sz="650" dirty="0">
                <a:solidFill>
                  <a:srgbClr val="B5B9CC"/>
                </a:solidFill>
                <a:latin typeface="맑은 고딕"/>
                <a:ea typeface="맑은 고딕"/>
              </a:rPr>
              <a:t>카테고리 2</a:t>
            </a:r>
          </a:p>
        </p:txBody>
      </p:sp>
      <p:sp>
        <p:nvSpPr>
          <p:cNvPr id="663" name="WF_CiteCard_1_0"/>
          <p:cNvSpPr/>
          <p:nvPr/>
        </p:nvSpPr>
        <p:spPr>
          <a:xfrm>
            <a:off x="6836410" y="46609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64" name="WF_CiteNum_1_0"/>
          <p:cNvSpPr/>
          <p:nvPr/>
        </p:nvSpPr>
        <p:spPr>
          <a:xfrm>
            <a:off x="6887210" y="46990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5" name="WF_CiteTitle_1_0"/>
          <p:cNvSpPr/>
          <p:nvPr/>
        </p:nvSpPr>
        <p:spPr>
          <a:xfrm>
            <a:off x="7090410" y="47117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6" name="WF_CiteSrc_1_0"/>
          <p:cNvSpPr/>
          <p:nvPr/>
        </p:nvSpPr>
        <p:spPr>
          <a:xfrm>
            <a:off x="7090410" y="47752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7" name="WF_CiteCard_1_1"/>
          <p:cNvSpPr/>
          <p:nvPr/>
        </p:nvSpPr>
        <p:spPr>
          <a:xfrm>
            <a:off x="6836410" y="48768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68" name="WF_CiteNum_1_1"/>
          <p:cNvSpPr/>
          <p:nvPr/>
        </p:nvSpPr>
        <p:spPr>
          <a:xfrm>
            <a:off x="6887210" y="49149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9" name="WF_CiteTitle_1_1"/>
          <p:cNvSpPr/>
          <p:nvPr/>
        </p:nvSpPr>
        <p:spPr>
          <a:xfrm>
            <a:off x="7090410" y="49276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0" name="WF_CiteSrc_1_1"/>
          <p:cNvSpPr/>
          <p:nvPr/>
        </p:nvSpPr>
        <p:spPr>
          <a:xfrm>
            <a:off x="7090410" y="49911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1" name="WF_CiteCard_1_2"/>
          <p:cNvSpPr/>
          <p:nvPr/>
        </p:nvSpPr>
        <p:spPr>
          <a:xfrm>
            <a:off x="6836410" y="50927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72" name="WF_CiteNum_1_2"/>
          <p:cNvSpPr/>
          <p:nvPr/>
        </p:nvSpPr>
        <p:spPr>
          <a:xfrm>
            <a:off x="6887210" y="51308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3" name="WF_CiteTitle_1_2"/>
          <p:cNvSpPr/>
          <p:nvPr/>
        </p:nvSpPr>
        <p:spPr>
          <a:xfrm>
            <a:off x="7090410" y="51435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4" name="WF_CiteSrc_1_2"/>
          <p:cNvSpPr/>
          <p:nvPr/>
        </p:nvSpPr>
        <p:spPr>
          <a:xfrm>
            <a:off x="7090410" y="52070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5" name="WF_CatLbl_2"/>
          <p:cNvSpPr/>
          <p:nvPr/>
        </p:nvSpPr>
        <p:spPr>
          <a:xfrm>
            <a:off x="6836410" y="5334000"/>
            <a:ext cx="4237990" cy="127000"/>
          </a:xfrm>
          <a:prstGeom prst="rect">
            <a:avLst/>
          </a:prstGeom>
          <a:noFill/>
          <a:ln w="381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76" name="WF_CatLbl_2_T"/>
          <p:cNvSpPr txBox="1"/>
          <p:nvPr/>
        </p:nvSpPr>
        <p:spPr>
          <a:xfrm>
            <a:off x="6887210" y="5334000"/>
            <a:ext cx="4136390" cy="127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ts val="845"/>
              </a:lnSpc>
            </a:pPr>
            <a:r>
              <a:rPr lang="ko-KR" sz="650" dirty="0">
                <a:solidFill>
                  <a:srgbClr val="B5B9CC"/>
                </a:solidFill>
                <a:latin typeface="맑은 고딕"/>
                <a:ea typeface="맑은 고딕"/>
              </a:rPr>
              <a:t>카테고리 3</a:t>
            </a:r>
          </a:p>
        </p:txBody>
      </p:sp>
      <p:sp>
        <p:nvSpPr>
          <p:cNvPr id="677" name="WF_CiteCard_2_0"/>
          <p:cNvSpPr/>
          <p:nvPr/>
        </p:nvSpPr>
        <p:spPr>
          <a:xfrm>
            <a:off x="6836410" y="54991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78" name="WF_CiteNum_2_0"/>
          <p:cNvSpPr/>
          <p:nvPr/>
        </p:nvSpPr>
        <p:spPr>
          <a:xfrm>
            <a:off x="6887210" y="55372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9" name="WF_CiteTitle_2_0"/>
          <p:cNvSpPr/>
          <p:nvPr/>
        </p:nvSpPr>
        <p:spPr>
          <a:xfrm>
            <a:off x="7090410" y="55499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0" name="WF_CiteSrc_2_0"/>
          <p:cNvSpPr/>
          <p:nvPr/>
        </p:nvSpPr>
        <p:spPr>
          <a:xfrm>
            <a:off x="7090410" y="56134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1" name="WF_CiteCard_2_1"/>
          <p:cNvSpPr/>
          <p:nvPr/>
        </p:nvSpPr>
        <p:spPr>
          <a:xfrm>
            <a:off x="6836410" y="57150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82" name="WF_CiteNum_2_1"/>
          <p:cNvSpPr/>
          <p:nvPr/>
        </p:nvSpPr>
        <p:spPr>
          <a:xfrm>
            <a:off x="6887210" y="57531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3" name="WF_CiteTitle_2_1"/>
          <p:cNvSpPr/>
          <p:nvPr/>
        </p:nvSpPr>
        <p:spPr>
          <a:xfrm>
            <a:off x="7090410" y="57658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4" name="WF_CiteSrc_2_1"/>
          <p:cNvSpPr/>
          <p:nvPr/>
        </p:nvSpPr>
        <p:spPr>
          <a:xfrm>
            <a:off x="7090410" y="58293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5" name="WF_CiteCard_2_2"/>
          <p:cNvSpPr/>
          <p:nvPr/>
        </p:nvSpPr>
        <p:spPr>
          <a:xfrm>
            <a:off x="6836410" y="5930900"/>
            <a:ext cx="4237990" cy="177800"/>
          </a:xfrm>
          <a:prstGeom prst="rect">
            <a:avLst/>
          </a:prstGeom>
          <a:noFill/>
          <a:ln w="5080">
            <a:solidFill>
              <a:srgbClr val="3A425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86" name="WF_CiteNum_2_2"/>
          <p:cNvSpPr/>
          <p:nvPr/>
        </p:nvSpPr>
        <p:spPr>
          <a:xfrm>
            <a:off x="6887210" y="5969000"/>
            <a:ext cx="152400" cy="101600"/>
          </a:xfrm>
          <a:prstGeom prst="roundRect">
            <a:avLst>
              <a:gd name="adj" fmla="val 30000"/>
            </a:avLst>
          </a:prstGeom>
          <a:noFill/>
          <a:ln w="508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7" name="WF_CiteTitle_2_2"/>
          <p:cNvSpPr/>
          <p:nvPr/>
        </p:nvSpPr>
        <p:spPr>
          <a:xfrm>
            <a:off x="7090410" y="5981700"/>
            <a:ext cx="3856990" cy="3175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8" name="WF_CiteSrc_2_2"/>
          <p:cNvSpPr/>
          <p:nvPr/>
        </p:nvSpPr>
        <p:spPr>
          <a:xfrm>
            <a:off x="7090410" y="6045200"/>
            <a:ext cx="2314194" cy="25400"/>
          </a:xfrm>
          <a:prstGeom prst="rect">
            <a:avLst/>
          </a:prstGeom>
          <a:solidFill>
            <a:srgbClr val="3A42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9" name="WF_CiteList_Lbl"/>
          <p:cNvSpPr txBox="1"/>
          <p:nvPr/>
        </p:nvSpPr>
        <p:spPr>
          <a:xfrm>
            <a:off x="6836410" y="3441700"/>
            <a:ext cx="423799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ts val="845"/>
              </a:lnSpc>
            </a:pPr>
            <a:r>
              <a:rPr lang="ko-KR" sz="650" dirty="0">
                <a:solidFill>
                  <a:srgbClr val="B5B9CC"/>
                </a:solidFill>
                <a:latin typeface="맑은 고딕"/>
                <a:ea typeface="맑은 고딕"/>
              </a:rPr>
              <a:t>인용 카드 (카테고리별)</a:t>
            </a:r>
          </a:p>
        </p:txBody>
      </p:sp>
      <p:sp>
        <p:nvSpPr>
          <p:cNvPr id="690" name="WF_Caption"/>
          <p:cNvSpPr txBox="1"/>
          <p:nvPr/>
        </p:nvSpPr>
        <p:spPr>
          <a:xfrm>
            <a:off x="762000" y="6362700"/>
            <a:ext cx="10668000" cy="177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lnSpc>
                <a:spcPts val="1040"/>
              </a:lnSpc>
            </a:pPr>
            <a:r>
              <a:rPr lang="ko-KR" sz="800" spc="100" dirty="0">
                <a:solidFill>
                  <a:srgbClr val="B5B9CC"/>
                </a:solidFill>
                <a:latin typeface="Consolas"/>
                <a:ea typeface="Consolas"/>
              </a:rPr>
              <a:t>Wireframe 04 · Citation Drawer Open</a:t>
            </a:r>
          </a:p>
        </p:txBody>
      </p:sp>
      <p:sp>
        <p:nvSpPr>
          <p:cNvPr id="635" name="WF_RightPanel"/>
          <p:cNvSpPr/>
          <p:nvPr/>
        </p:nvSpPr>
        <p:spPr>
          <a:xfrm>
            <a:off x="8955405" y="2780300"/>
            <a:ext cx="2430780" cy="3352800"/>
          </a:xfrm>
          <a:prstGeom prst="rect">
            <a:avLst/>
          </a:prstGeom>
          <a:solidFill>
            <a:schemeClr val="tx2"/>
          </a:solidFill>
          <a:ln w="6350">
            <a:solidFill>
              <a:srgbClr val="3A4258"/>
            </a:solidFill>
          </a:ln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인용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인덱스 </a:t>
            </a:r>
            <a:r>
              <a:rPr lang="ko-KR" altLang="en-US" dirty="0" err="1">
                <a:solidFill>
                  <a:schemeClr val="bg1"/>
                </a:solidFill>
              </a:rPr>
              <a:t>드로어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554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07 ·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07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B7BD9"/>
                </a:solidFill>
                <a:latin typeface="Consolas"/>
              </a:rPr>
              <a:t>07 · 스코프 /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20">
                <a:solidFill>
                  <a:srgbClr val="1A1A2E"/>
                </a:solidFill>
                <a:latin typeface="맑은 고딕"/>
              </a:rPr>
              <a:t>반도체 산업으로 한정, 단계적으로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4A5E"/>
                </a:solidFill>
                <a:latin typeface="맑은 고딕"/>
              </a:rPr>
              <a:t>도메인을 좁히고 깊이를 우선 — 그 다음 폭을 늘린다.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2700000"/>
            <a:ext cx="2700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7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8000" y="2700000"/>
            <a:ext cx="2700000" cy="180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9999" y="3024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3B7BD9"/>
                </a:solidFill>
                <a:latin typeface="Consola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999" y="3276000"/>
            <a:ext cx="2196001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 spc="-30">
                <a:solidFill>
                  <a:srgbClr val="1A1A2E"/>
                </a:solidFill>
                <a:latin typeface="Times New Roman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999" y="4104000"/>
            <a:ext cx="2196001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2E"/>
                </a:solidFill>
                <a:latin typeface="맑은 고딕"/>
              </a:rPr>
              <a:t>반도체 5사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999" y="4500000"/>
            <a:ext cx="2196001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4A5E"/>
                </a:solidFill>
                <a:latin typeface="맑은 고딕"/>
              </a:rPr>
              <a:t>삼성전자 · SK하이닉스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4A5E"/>
                </a:solidFill>
                <a:latin typeface="맑은 고딕"/>
              </a:rPr>
              <a:t>동진쎄미켐 · 솔브레인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4A5E"/>
                </a:solidFill>
                <a:latin typeface="맑은 고딕"/>
              </a:rPr>
              <a:t>한미반도체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84000" y="3834001"/>
            <a:ext cx="288000" cy="251999"/>
          </a:xfrm>
          <a:prstGeom prst="rightArrow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08000" y="2700000"/>
            <a:ext cx="3168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08000" y="2700000"/>
            <a:ext cx="3168000" cy="180000"/>
          </a:xfrm>
          <a:prstGeom prst="rect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9999" y="3024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C9A84F"/>
                </a:solidFill>
                <a:latin typeface="Consolas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999" y="3276000"/>
            <a:ext cx="2664001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 spc="-30">
                <a:solidFill>
                  <a:srgbClr val="1A1A2E"/>
                </a:solidFill>
                <a:latin typeface="Times New Roman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999" y="4104000"/>
            <a:ext cx="2664001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2E"/>
                </a:solidFill>
                <a:latin typeface="맑은 고딕"/>
              </a:rPr>
              <a:t>30개 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999" y="4500000"/>
            <a:ext cx="2664001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4A5E"/>
                </a:solidFill>
                <a:latin typeface="맑은 고딕"/>
              </a:rPr>
              <a:t>반도체 밸류체인 전반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4A5E"/>
                </a:solidFill>
                <a:latin typeface="맑은 고딕"/>
              </a:rPr>
              <a:t>장비·소재·후공정·설계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12000" y="3834001"/>
            <a:ext cx="288000" cy="251999"/>
          </a:xfrm>
          <a:prstGeom prst="rightArrow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36000" y="2700000"/>
            <a:ext cx="378000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36000" y="2700000"/>
            <a:ext cx="3780000" cy="180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87999" y="3024000"/>
            <a:ext cx="1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DC3545"/>
                </a:solidFill>
                <a:latin typeface="Consolas"/>
              </a:rPr>
              <a:t>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7999" y="3276000"/>
            <a:ext cx="3276001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 spc="-30">
                <a:solidFill>
                  <a:srgbClr val="1A1A2E"/>
                </a:solidFill>
                <a:latin typeface="Times New Roman"/>
              </a:rPr>
              <a:t>100+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7999" y="4104000"/>
            <a:ext cx="3276001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2E"/>
                </a:solidFill>
                <a:latin typeface="맑은 고딕"/>
              </a:rPr>
              <a:t>100개+ 기업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7999" y="4500000"/>
            <a:ext cx="3276001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4A5E"/>
                </a:solidFill>
                <a:latin typeface="맑은 고딕"/>
              </a:rPr>
              <a:t>반도체 전 영역 커버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A4A5E"/>
                </a:solidFill>
                <a:latin typeface="맑은 고딕"/>
              </a:rPr>
              <a:t>원자재부터 응용 산업까지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5760000"/>
            <a:ext cx="11160000" cy="503999"/>
          </a:xfrm>
          <a:prstGeom prst="rect">
            <a:avLst/>
          </a:prstGeom>
          <a:solidFill>
            <a:srgbClr val="F6F4F0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0000" y="5832000"/>
            <a:ext cx="108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3B7BD9"/>
                </a:solidFill>
                <a:latin typeface="Consolas"/>
              </a:rPr>
              <a:t>WHY 반도체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030000"/>
            <a:ext cx="108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A4A5E"/>
                </a:solidFill>
                <a:latin typeface="맑은 고딕"/>
              </a:rPr>
              <a:t>공급망이 촘촘하고 공시 빈도가 높아 ‘관계 그래프’의 효용이 가장 큰 도메인.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08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08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B7BD9"/>
                </a:solidFill>
                <a:latin typeface="Consolas"/>
              </a:rPr>
              <a:t>08 · 개발 일정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20">
                <a:solidFill>
                  <a:srgbClr val="1A1A2E"/>
                </a:solidFill>
                <a:latin typeface="맑은 고딕"/>
              </a:rPr>
              <a:t>네 단계로 끊어 가는 개발 로드맵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520000"/>
            <a:ext cx="2682000" cy="29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0000" y="2520000"/>
            <a:ext cx="2682000" cy="144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6000" y="2771999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3B7BD9"/>
                </a:solidFill>
                <a:latin typeface="Consolas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988000"/>
            <a:ext cx="2250000" cy="241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500" b="1" dirty="0">
                <a:solidFill>
                  <a:srgbClr val="1A1A2E"/>
                </a:solidFill>
                <a:latin typeface="맑은 고딕"/>
              </a:rPr>
              <a:t>스키마</a:t>
            </a:r>
            <a:r>
              <a:rPr sz="15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lang="ko-KR" altLang="en-US" sz="1500" b="1" i="0" dirty="0">
                <a:solidFill>
                  <a:srgbClr val="1A1A2E"/>
                </a:solidFill>
                <a:latin typeface="맑은 고딕"/>
              </a:rPr>
              <a:t>디자인</a:t>
            </a:r>
            <a:endParaRPr sz="15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6000" y="3384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80">
                <a:solidFill>
                  <a:srgbClr val="8B85B8"/>
                </a:solidFill>
                <a:latin typeface="Times New Roman"/>
              </a:rPr>
              <a:t>DB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" y="3708000"/>
            <a:ext cx="2250000" cy="489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그래프·벡터·정형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데이터의</a:t>
            </a:r>
            <a:endParaRPr sz="1100" b="0" i="0" dirty="0">
              <a:solidFill>
                <a:srgbClr val="4A4A5E"/>
              </a:solidFill>
              <a:latin typeface="맑은 고딕"/>
            </a:endParaRPr>
          </a:p>
          <a:p>
            <a:pPr algn="l">
              <a:lnSpc>
                <a:spcPct val="155000"/>
              </a:lnSpc>
            </a:pP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스키마를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먼저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확정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6000" y="4608000"/>
            <a:ext cx="2250000" cy="0"/>
          </a:xfrm>
          <a:prstGeom prst="line">
            <a:avLst/>
          </a:prstGeom>
          <a:ln w="9525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6000" y="4662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B85B8"/>
                </a:solidFill>
                <a:latin typeface="Consolas"/>
              </a:rPr>
              <a:t>산출물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000" y="4924800"/>
            <a:ext cx="54000" cy="54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000" y="4860000"/>
            <a:ext cx="2142000" cy="152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950" b="0" i="0" dirty="0">
                <a:solidFill>
                  <a:srgbClr val="1A1A2E"/>
                </a:solidFill>
                <a:latin typeface="맑은 고딕"/>
              </a:rPr>
              <a:t>그래프</a:t>
            </a:r>
            <a:r>
              <a:rPr lang="en-US" altLang="ko-KR" sz="950" dirty="0">
                <a:solidFill>
                  <a:srgbClr val="1A1A2E"/>
                </a:solidFill>
                <a:latin typeface="맑은 고딕"/>
              </a:rPr>
              <a:t>DB</a:t>
            </a:r>
            <a:r>
              <a:rPr lang="ko-KR" altLang="en-US" sz="950" b="0" i="0" dirty="0">
                <a:solidFill>
                  <a:srgbClr val="1A1A2E"/>
                </a:solidFill>
                <a:latin typeface="맑은 고딕"/>
              </a:rPr>
              <a:t> 스키마</a:t>
            </a:r>
            <a:endParaRPr sz="950" b="0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6000" y="5086800"/>
            <a:ext cx="54000" cy="54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000" y="5022000"/>
            <a:ext cx="2142000" cy="152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950" b="0" i="0" dirty="0">
                <a:solidFill>
                  <a:srgbClr val="1A1A2E"/>
                </a:solidFill>
                <a:latin typeface="맑은 고딕"/>
              </a:rPr>
              <a:t>벡터</a:t>
            </a:r>
            <a:r>
              <a:rPr lang="en-US" altLang="ko-KR" sz="950" b="0" i="0" dirty="0">
                <a:solidFill>
                  <a:srgbClr val="1A1A2E"/>
                </a:solidFill>
                <a:latin typeface="맑은 고딕"/>
              </a:rPr>
              <a:t>DB</a:t>
            </a:r>
            <a:r>
              <a:rPr lang="ko-KR" altLang="en-US" sz="950" b="0" i="0" dirty="0">
                <a:solidFill>
                  <a:srgbClr val="1A1A2E"/>
                </a:solidFill>
                <a:latin typeface="맑은 고딕"/>
              </a:rPr>
              <a:t> 스키마</a:t>
            </a:r>
            <a:endParaRPr sz="950" b="0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6000" y="5248800"/>
            <a:ext cx="54000" cy="54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000" y="5184000"/>
            <a:ext cx="2142000" cy="152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950">
                <a:solidFill>
                  <a:srgbClr val="1A1A2E"/>
                </a:solidFill>
                <a:latin typeface="맑은 고딕"/>
              </a:rPr>
              <a:t>RDB</a:t>
            </a:r>
            <a:r>
              <a:rPr sz="950" b="0" i="0">
                <a:solidFill>
                  <a:srgbClr val="1A1A2E"/>
                </a:solidFill>
                <a:latin typeface="맑은 고딕"/>
              </a:rPr>
              <a:t> </a:t>
            </a:r>
            <a:r>
              <a:rPr sz="950" b="0" i="0" dirty="0" err="1">
                <a:solidFill>
                  <a:srgbClr val="1A1A2E"/>
                </a:solidFill>
                <a:latin typeface="맑은 고딕"/>
              </a:rPr>
              <a:t>스키마</a:t>
            </a:r>
            <a:endParaRPr sz="950" b="0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66000" y="2520000"/>
            <a:ext cx="2682000" cy="29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66000" y="2520000"/>
            <a:ext cx="2682000" cy="144000"/>
          </a:xfrm>
          <a:prstGeom prst="rect">
            <a:avLst/>
          </a:prstGeom>
          <a:solidFill>
            <a:srgbClr val="6BB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82000" y="2771999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6BBF9B"/>
                </a:solidFill>
                <a:latin typeface="Consolas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2000" y="2988000"/>
            <a:ext cx="2250000" cy="242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500" b="1" dirty="0">
                <a:latin typeface="+mn-ea"/>
              </a:rPr>
              <a:t>뉴스 분석 </a:t>
            </a:r>
            <a:r>
              <a:rPr lang="en-US" altLang="ko-KR" sz="1500" b="1" dirty="0">
                <a:latin typeface="+mn-ea"/>
              </a:rPr>
              <a:t>1</a:t>
            </a:r>
            <a:r>
              <a:rPr lang="ko-KR" altLang="en-US" sz="1500" b="1" dirty="0">
                <a:latin typeface="+mn-ea"/>
              </a:rPr>
              <a:t>차 구축</a:t>
            </a:r>
            <a:endParaRPr sz="1500" b="1" i="0" dirty="0">
              <a:solidFill>
                <a:srgbClr val="1A1A2E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2000" y="3384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80">
                <a:solidFill>
                  <a:srgbClr val="8B85B8"/>
                </a:solidFill>
                <a:latin typeface="Times New Roman"/>
              </a:rPr>
              <a:t>Data Ingest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2000" y="3708000"/>
            <a:ext cx="2250000" cy="489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뉴스를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인풋으로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받아</a:t>
            </a:r>
            <a:endParaRPr sz="1100" b="0" i="0" dirty="0">
              <a:solidFill>
                <a:srgbClr val="4A4A5E"/>
              </a:solidFill>
              <a:latin typeface="맑은 고딕"/>
            </a:endParaRPr>
          </a:p>
          <a:p>
            <a:pPr algn="l">
              <a:lnSpc>
                <a:spcPct val="155000"/>
              </a:lnSpc>
            </a:pP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관련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정보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취합을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4A4A5E"/>
                </a:solidFill>
                <a:latin typeface="맑은 고딕"/>
              </a:rPr>
              <a:t>검증</a:t>
            </a:r>
            <a:r>
              <a:rPr sz="1100" b="0" i="0" dirty="0">
                <a:solidFill>
                  <a:srgbClr val="4A4A5E"/>
                </a:solidFill>
                <a:latin typeface="맑은 고딕"/>
              </a:rPr>
              <a:t>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82000" y="4608000"/>
            <a:ext cx="2250000" cy="0"/>
          </a:xfrm>
          <a:prstGeom prst="line">
            <a:avLst/>
          </a:prstGeom>
          <a:ln w="9525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82000" y="4662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B85B8"/>
                </a:solidFill>
                <a:latin typeface="Consolas"/>
              </a:rPr>
              <a:t>산출물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2000" y="4924800"/>
            <a:ext cx="54000" cy="54000"/>
          </a:xfrm>
          <a:prstGeom prst="rect">
            <a:avLst/>
          </a:prstGeom>
          <a:solidFill>
            <a:srgbClr val="6BB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90000" y="4860000"/>
            <a:ext cx="2142000" cy="152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950" b="0" i="0" dirty="0">
                <a:solidFill>
                  <a:srgbClr val="1A1A2E"/>
                </a:solidFill>
                <a:latin typeface="맑은 고딕"/>
              </a:rPr>
              <a:t>Ingest </a:t>
            </a:r>
            <a:r>
              <a:rPr lang="ko-KR" altLang="en-US" sz="950" b="0" i="0" dirty="0">
                <a:solidFill>
                  <a:srgbClr val="1A1A2E"/>
                </a:solidFill>
                <a:latin typeface="맑은 고딕"/>
              </a:rPr>
              <a:t>파이프라인</a:t>
            </a:r>
            <a:endParaRPr sz="950" b="0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582000" y="5086800"/>
            <a:ext cx="54000" cy="54000"/>
          </a:xfrm>
          <a:prstGeom prst="rect">
            <a:avLst/>
          </a:prstGeom>
          <a:solidFill>
            <a:srgbClr val="6BB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90000" y="5022000"/>
            <a:ext cx="2142000" cy="152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950" b="0" i="0" dirty="0">
                <a:solidFill>
                  <a:srgbClr val="1A1A2E"/>
                </a:solidFill>
                <a:latin typeface="맑은 고딕"/>
              </a:rPr>
              <a:t>Coverage </a:t>
            </a:r>
            <a:r>
              <a:rPr lang="ko-KR" altLang="en-US" sz="950" b="0" i="0" dirty="0">
                <a:solidFill>
                  <a:srgbClr val="1A1A2E"/>
                </a:solidFill>
                <a:latin typeface="맑은 고딕"/>
              </a:rPr>
              <a:t>측정</a:t>
            </a:r>
            <a:endParaRPr sz="950" b="0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582000" y="5248800"/>
            <a:ext cx="54000" cy="54000"/>
          </a:xfrm>
          <a:prstGeom prst="rect">
            <a:avLst/>
          </a:prstGeom>
          <a:solidFill>
            <a:srgbClr val="6BB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90000" y="5184000"/>
            <a:ext cx="2142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2E"/>
                </a:solidFill>
                <a:latin typeface="맑은 고딕"/>
              </a:rPr>
              <a:t>엔드투엔드 트레이스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2000" y="2520000"/>
            <a:ext cx="2682000" cy="29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2000" y="2520000"/>
            <a:ext cx="2682000" cy="144000"/>
          </a:xfrm>
          <a:prstGeom prst="rect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8000" y="2771999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C9A84F"/>
                </a:solidFill>
                <a:latin typeface="Consolas"/>
              </a:rPr>
              <a:t>PHASE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8000" y="2988000"/>
            <a:ext cx="225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2E"/>
                </a:solidFill>
                <a:latin typeface="맑은 고딕"/>
              </a:rPr>
              <a:t>에이전트·보고서 완성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8000" y="3384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80">
                <a:solidFill>
                  <a:srgbClr val="8B85B8"/>
                </a:solidFill>
                <a:latin typeface="Times New Roman"/>
              </a:rPr>
              <a:t>Agent +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8000" y="3708000"/>
            <a:ext cx="225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에이전트로 보고서까지 완성.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요약과 인용 데이터 포함.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8000" y="4608000"/>
            <a:ext cx="2250000" cy="0"/>
          </a:xfrm>
          <a:prstGeom prst="line">
            <a:avLst/>
          </a:prstGeom>
          <a:ln w="9525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8000" y="4662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B85B8"/>
                </a:solidFill>
                <a:latin typeface="Consolas"/>
              </a:rPr>
              <a:t>산출물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8000" y="4924800"/>
            <a:ext cx="54000" cy="54000"/>
          </a:xfrm>
          <a:prstGeom prst="rect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6000" y="4860000"/>
            <a:ext cx="2142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2E"/>
                </a:solidFill>
                <a:latin typeface="맑은 고딕"/>
              </a:rPr>
              <a:t>에이전트 설계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8000" y="5086800"/>
            <a:ext cx="54000" cy="54000"/>
          </a:xfrm>
          <a:prstGeom prst="rect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16000" y="5022000"/>
            <a:ext cx="2142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2E"/>
                </a:solidFill>
                <a:latin typeface="맑은 고딕"/>
              </a:rPr>
              <a:t>보고서 자동 작성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8000" y="5248800"/>
            <a:ext cx="54000" cy="54000"/>
          </a:xfrm>
          <a:prstGeom prst="rect">
            <a:avLst/>
          </a:prstGeom>
          <a:solidFill>
            <a:srgbClr val="C9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6000" y="5184000"/>
            <a:ext cx="2142000" cy="152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>
                <a:solidFill>
                  <a:srgbClr val="1A1A2E"/>
                </a:solidFill>
                <a:latin typeface="맑은 고딕"/>
              </a:rPr>
              <a:t>3줄 </a:t>
            </a:r>
            <a:r>
              <a:rPr sz="950" b="0" i="0" dirty="0" err="1">
                <a:solidFill>
                  <a:srgbClr val="1A1A2E"/>
                </a:solidFill>
                <a:latin typeface="맑은 고딕"/>
              </a:rPr>
              <a:t>요약</a:t>
            </a:r>
            <a:r>
              <a:rPr sz="950" b="0" i="0" dirty="0">
                <a:solidFill>
                  <a:srgbClr val="1A1A2E"/>
                </a:solidFill>
                <a:latin typeface="맑은 고딕"/>
              </a:rPr>
              <a:t> · </a:t>
            </a:r>
            <a:r>
              <a:rPr sz="950" b="0" i="0" dirty="0" err="1">
                <a:solidFill>
                  <a:srgbClr val="1A1A2E"/>
                </a:solidFill>
                <a:latin typeface="맑은 고딕"/>
              </a:rPr>
              <a:t>인용</a:t>
            </a:r>
            <a:r>
              <a:rPr sz="950" b="0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lang="ko-KR" altLang="en-US" sz="950" b="0" i="0" dirty="0">
                <a:solidFill>
                  <a:srgbClr val="1A1A2E"/>
                </a:solidFill>
                <a:latin typeface="맑은 고딕"/>
              </a:rPr>
              <a:t>추적</a:t>
            </a:r>
            <a:endParaRPr sz="950" b="0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018000" y="2520000"/>
            <a:ext cx="2682000" cy="29519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018000" y="2520000"/>
            <a:ext cx="2682000" cy="144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4000" y="2771999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DC3545"/>
                </a:solidFill>
                <a:latin typeface="Consolas"/>
              </a:rPr>
              <a:t>PHASE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4000" y="2988000"/>
            <a:ext cx="225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2E"/>
                </a:solidFill>
                <a:latin typeface="맑은 고딕"/>
              </a:rPr>
              <a:t>검색 품질 개선·검증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4000" y="3384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spc="80">
                <a:solidFill>
                  <a:srgbClr val="8B85B8"/>
                </a:solidFill>
                <a:latin typeface="Times New Roman"/>
              </a:rPr>
              <a:t>Quality Loop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4000" y="3708000"/>
            <a:ext cx="225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검색 품질을 정량 측정,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테스트 케이스로 반복 개선.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234000" y="4608000"/>
            <a:ext cx="2250000" cy="0"/>
          </a:xfrm>
          <a:prstGeom prst="line">
            <a:avLst/>
          </a:prstGeom>
          <a:ln w="9525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234000" y="4662000"/>
            <a:ext cx="22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B85B8"/>
                </a:solidFill>
                <a:latin typeface="Consolas"/>
              </a:rPr>
              <a:t>산출물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4000" y="4924800"/>
            <a:ext cx="54000" cy="54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342000" y="4860000"/>
            <a:ext cx="2142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2E"/>
                </a:solidFill>
                <a:latin typeface="맑은 고딕"/>
              </a:rPr>
              <a:t>테스트 셋 구축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34000" y="5086800"/>
            <a:ext cx="54000" cy="54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42000" y="5022000"/>
            <a:ext cx="2142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dirty="0" err="1">
                <a:solidFill>
                  <a:srgbClr val="1A1A2E"/>
                </a:solidFill>
                <a:latin typeface="맑은 고딕"/>
              </a:rPr>
              <a:t>지표</a:t>
            </a:r>
            <a:r>
              <a:rPr sz="950" b="0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950" b="0" i="0" dirty="0" err="1">
                <a:solidFill>
                  <a:srgbClr val="1A1A2E"/>
                </a:solidFill>
                <a:latin typeface="맑은 고딕"/>
              </a:rPr>
              <a:t>측정·튜닝</a:t>
            </a:r>
            <a:endParaRPr sz="950" b="0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234000" y="5248800"/>
            <a:ext cx="54000" cy="54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42000" y="5184000"/>
            <a:ext cx="2142000" cy="153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950" dirty="0">
                <a:latin typeface="+mn-ea"/>
              </a:rPr>
              <a:t>관측</a:t>
            </a:r>
            <a:r>
              <a:rPr lang="en-US" altLang="ko-KR" sz="950" dirty="0">
                <a:latin typeface="+mn-ea"/>
              </a:rPr>
              <a:t>·</a:t>
            </a:r>
            <a:r>
              <a:rPr lang="ko-KR" altLang="en-US" sz="950" dirty="0">
                <a:latin typeface="+mn-ea"/>
              </a:rPr>
              <a:t>오답 분석</a:t>
            </a:r>
            <a:endParaRPr sz="950" i="0" dirty="0">
              <a:solidFill>
                <a:srgbClr val="1A1A2E"/>
              </a:solidFill>
              <a:latin typeface="+mn-ea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540000" y="5651999"/>
            <a:ext cx="11160000" cy="0"/>
          </a:xfrm>
          <a:prstGeom prst="line">
            <a:avLst/>
          </a:prstGeom>
          <a:ln w="15240">
            <a:solidFill>
              <a:srgbClr val="0B0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809000" y="5579999"/>
            <a:ext cx="144000" cy="144000"/>
          </a:xfrm>
          <a:prstGeom prst="ellipse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635000" y="5579999"/>
            <a:ext cx="144000" cy="144000"/>
          </a:xfrm>
          <a:prstGeom prst="ellipse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461000" y="5579999"/>
            <a:ext cx="144000" cy="144000"/>
          </a:xfrm>
          <a:prstGeom prst="ellipse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287000" y="5579999"/>
            <a:ext cx="144000" cy="144000"/>
          </a:xfrm>
          <a:prstGeom prst="ellipse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0000" y="1871376"/>
            <a:ext cx="11160000" cy="289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1" dirty="0">
                <a:solidFill>
                  <a:srgbClr val="8B85B8"/>
                </a:solidFill>
                <a:latin typeface="맑은 고딕"/>
              </a:rPr>
              <a:t>‘</a:t>
            </a:r>
            <a:r>
              <a:rPr b="0" i="1" dirty="0" err="1">
                <a:solidFill>
                  <a:srgbClr val="8B85B8"/>
                </a:solidFill>
                <a:latin typeface="맑은 고딕"/>
              </a:rPr>
              <a:t>설계</a:t>
            </a:r>
            <a:r>
              <a:rPr b="0" i="1" dirty="0">
                <a:solidFill>
                  <a:srgbClr val="8B85B8"/>
                </a:solidFill>
                <a:latin typeface="맑은 고딕"/>
              </a:rPr>
              <a:t> → </a:t>
            </a:r>
            <a:r>
              <a:rPr b="0" i="1" dirty="0" err="1">
                <a:solidFill>
                  <a:srgbClr val="8B85B8"/>
                </a:solidFill>
                <a:latin typeface="맑은 고딕"/>
              </a:rPr>
              <a:t>데이터</a:t>
            </a:r>
            <a:r>
              <a:rPr b="0" i="1" dirty="0">
                <a:solidFill>
                  <a:srgbClr val="8B85B8"/>
                </a:solidFill>
                <a:latin typeface="맑은 고딕"/>
              </a:rPr>
              <a:t> → </a:t>
            </a:r>
            <a:r>
              <a:rPr b="0" i="1" dirty="0" err="1">
                <a:solidFill>
                  <a:srgbClr val="8B85B8"/>
                </a:solidFill>
                <a:latin typeface="맑은 고딕"/>
              </a:rPr>
              <a:t>보고서</a:t>
            </a:r>
            <a:r>
              <a:rPr b="0" i="1" dirty="0">
                <a:solidFill>
                  <a:srgbClr val="8B85B8"/>
                </a:solidFill>
                <a:latin typeface="맑은 고딕"/>
              </a:rPr>
              <a:t> → </a:t>
            </a:r>
            <a:r>
              <a:rPr b="0" i="1" dirty="0" err="1">
                <a:solidFill>
                  <a:srgbClr val="8B85B8"/>
                </a:solidFill>
                <a:latin typeface="맑은 고딕"/>
              </a:rPr>
              <a:t>품질</a:t>
            </a:r>
            <a:r>
              <a:rPr b="0" i="1" dirty="0">
                <a:solidFill>
                  <a:srgbClr val="8B85B8"/>
                </a:solidFill>
                <a:latin typeface="맑은 고딕"/>
              </a:rPr>
              <a:t>’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3999" y="234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20">
                <a:solidFill>
                  <a:srgbClr val="8B85B8"/>
                </a:solidFill>
                <a:latin typeface="Consolas"/>
              </a:rPr>
              <a:t>POLARIS  ·  09 ·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0" y="234000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5B8"/>
                </a:solidFill>
                <a:latin typeface="Consolas"/>
              </a:rPr>
              <a:t>09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540000"/>
            <a:ext cx="11160001" cy="0"/>
          </a:xfrm>
          <a:prstGeom prst="line">
            <a:avLst/>
          </a:prstGeom>
          <a:ln w="6350">
            <a:solidFill>
              <a:srgbClr val="E3E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999" y="792000"/>
            <a:ext cx="720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3B7BD9"/>
                </a:solidFill>
                <a:latin typeface="Consolas"/>
              </a:rPr>
              <a:t>09 · 기술 스택 /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990000"/>
            <a:ext cx="1080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spc="-20">
                <a:solidFill>
                  <a:srgbClr val="1A1A2E"/>
                </a:solidFill>
                <a:latin typeface="맑은 고딕"/>
              </a:rPr>
              <a:t>여섯 개의 오픈소스로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458000"/>
            <a:ext cx="10800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4A5E"/>
                </a:solidFill>
                <a:latin typeface="맑은 고딕"/>
              </a:rPr>
              <a:t>프론트엔드 · 백엔드 · 그래프 · 벡터 · 임베딩 · 정형 저장.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376000"/>
            <a:ext cx="3671999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0000" y="2376000"/>
            <a:ext cx="108000" cy="1908000"/>
          </a:xfrm>
          <a:prstGeom prst="rect">
            <a:avLst/>
          </a:prstGeom>
          <a:solidFill>
            <a:srgbClr val="E3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go_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2627999"/>
            <a:ext cx="928250" cy="8279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68000" y="2627999"/>
            <a:ext cx="183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8000" y="2988000"/>
            <a:ext cx="183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50">
                <a:solidFill>
                  <a:srgbClr val="3B7BD9"/>
                </a:solidFill>
                <a:latin typeface="Consolas"/>
              </a:rPr>
              <a:t>프론트엔드 /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999" y="3672000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검색·피드·보고서 화면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999" y="4032001"/>
            <a:ext cx="316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B85B8"/>
                </a:solidFill>
                <a:latin typeface="Consolas"/>
              </a:rPr>
              <a:t>OPEN  ·  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7998" y="2376000"/>
            <a:ext cx="3671999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37998" y="2376000"/>
            <a:ext cx="108000" cy="1908000"/>
          </a:xfrm>
          <a:prstGeom prst="rect">
            <a:avLst/>
          </a:prstGeom>
          <a:solidFill>
            <a:srgbClr val="E3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ogo_fast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997" y="2627999"/>
            <a:ext cx="1296000" cy="4670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5998" y="2627999"/>
            <a:ext cx="183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5998" y="2988000"/>
            <a:ext cx="183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50">
                <a:solidFill>
                  <a:srgbClr val="3B7BD9"/>
                </a:solidFill>
                <a:latin typeface="Consolas"/>
              </a:rPr>
              <a:t>백엔드 /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9997" y="3672000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비동기 API · 작업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9997" y="4032001"/>
            <a:ext cx="316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B85B8"/>
                </a:solidFill>
                <a:latin typeface="Consolas"/>
              </a:rPr>
              <a:t>OPEN  · 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5996" y="2376000"/>
            <a:ext cx="3671999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5996" y="2376000"/>
            <a:ext cx="108000" cy="1908000"/>
          </a:xfrm>
          <a:prstGeom prst="rect">
            <a:avLst/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logo_neo4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995" y="2627999"/>
            <a:ext cx="1296000" cy="4863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63996" y="2627999"/>
            <a:ext cx="183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Neo4j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3996" y="2988000"/>
            <a:ext cx="183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50">
                <a:solidFill>
                  <a:srgbClr val="3B7BD9"/>
                </a:solidFill>
                <a:latin typeface="Consolas"/>
              </a:rPr>
              <a:t>그래프 DB / 메인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7995" y="3672000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기업·인물·사건의 관계 저장과 추적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7995" y="4032001"/>
            <a:ext cx="316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B85B8"/>
                </a:solidFill>
                <a:latin typeface="Consolas"/>
              </a:rPr>
              <a:t>OPEN  ·  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43995" y="2556000"/>
            <a:ext cx="720000" cy="216000"/>
          </a:xfrm>
          <a:prstGeom prst="roundRect">
            <a:avLst>
              <a:gd name="adj" fmla="val 45000"/>
            </a:avLst>
          </a:prstGeom>
          <a:solidFill>
            <a:srgbClr val="3B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43995" y="2584800"/>
            <a:ext cx="720000" cy="1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</a:rPr>
              <a:t>메인 기술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" y="4409999"/>
            <a:ext cx="3671999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0000" y="4409999"/>
            <a:ext cx="108000" cy="1908000"/>
          </a:xfrm>
          <a:prstGeom prst="rect">
            <a:avLst/>
          </a:prstGeom>
          <a:solidFill>
            <a:srgbClr val="E3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logo_qdr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99" y="4661998"/>
            <a:ext cx="1296000" cy="34499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268000" y="4661998"/>
            <a:ext cx="183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Qdrant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5021999"/>
            <a:ext cx="183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50">
                <a:solidFill>
                  <a:srgbClr val="3B7BD9"/>
                </a:solidFill>
                <a:latin typeface="Consolas"/>
              </a:rPr>
              <a:t>벡터 DB / 의미 검색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999" y="5705999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임베딩 벡터 인덱스와 근접 검색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999" y="6066000"/>
            <a:ext cx="316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B85B8"/>
                </a:solidFill>
                <a:latin typeface="Consolas"/>
              </a:rPr>
              <a:t>OPEN  ·  SOURCE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7998" y="4409999"/>
            <a:ext cx="3671999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37998" y="4409999"/>
            <a:ext cx="108000" cy="1908000"/>
          </a:xfrm>
          <a:prstGeom prst="rect">
            <a:avLst/>
          </a:prstGeom>
          <a:solidFill>
            <a:srgbClr val="E3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logo_h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9997" y="4661998"/>
            <a:ext cx="827999" cy="8279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65998" y="4661998"/>
            <a:ext cx="183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BGE-M3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65998" y="5021999"/>
            <a:ext cx="183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50">
                <a:solidFill>
                  <a:srgbClr val="3B7BD9"/>
                </a:solidFill>
                <a:latin typeface="Consolas"/>
              </a:rPr>
              <a:t>임베딩 모델 / 1024d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9997" y="5705999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한국어 포함 다국어 의미 벡터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9997" y="6066000"/>
            <a:ext cx="316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B85B8"/>
                </a:solidFill>
                <a:latin typeface="Consolas"/>
              </a:rPr>
              <a:t>OPEN  ·  SOURCE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5996" y="4409999"/>
            <a:ext cx="3671999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35996" y="4409999"/>
            <a:ext cx="108000" cy="1908000"/>
          </a:xfrm>
          <a:prstGeom prst="rect">
            <a:avLst/>
          </a:prstGeom>
          <a:solidFill>
            <a:srgbClr val="E3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logo_maria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7995" y="4661998"/>
            <a:ext cx="1296000" cy="36806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863996" y="4661998"/>
            <a:ext cx="1836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2E"/>
                </a:solidFill>
                <a:latin typeface="맑은 고딕"/>
              </a:rPr>
              <a:t>MariaDB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3996" y="5021999"/>
            <a:ext cx="1836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50">
                <a:solidFill>
                  <a:srgbClr val="3B7BD9"/>
                </a:solidFill>
                <a:latin typeface="Consolas"/>
              </a:rPr>
              <a:t>정형 저장 / RDB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7995" y="5705999"/>
            <a:ext cx="31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5E"/>
                </a:solidFill>
                <a:latin typeface="맑은 고딕"/>
              </a:rPr>
              <a:t>공시·뉴스·기업 메타데이터 저장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7995" y="6066000"/>
            <a:ext cx="3168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B85B8"/>
                </a:solidFill>
                <a:latin typeface="Consolas"/>
              </a:rPr>
              <a:t>OPEN  ·  SOURCE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3999" y="6443999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80">
                <a:solidFill>
                  <a:srgbClr val="8B85B8"/>
                </a:solidFill>
                <a:latin typeface="맑은 고딕"/>
              </a:rPr>
              <a:t>POLARIS  ·  실시간 정보 분석 서비스  ·  팀 삼총사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80000" y="6443999"/>
            <a:ext cx="1584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B85B8"/>
                </a:solidFill>
                <a:latin typeface="Consolas"/>
              </a:rPr>
              <a:t>p.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tarry_a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082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88000" y="1440000"/>
            <a:ext cx="864000" cy="864000"/>
          </a:xfrm>
          <a:prstGeom prst="ellipse">
            <a:avLst/>
          </a:prstGeom>
          <a:solidFill>
            <a:srgbClr val="33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32000" y="1584000"/>
            <a:ext cx="576000" cy="576000"/>
          </a:xfrm>
          <a:prstGeom prst="ellipse">
            <a:avLst/>
          </a:prstGeom>
          <a:solidFill>
            <a:srgbClr val="7A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76000" y="1728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11160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1" spc="80">
                <a:solidFill>
                  <a:srgbClr val="FFFFFF"/>
                </a:solidFill>
                <a:latin typeface="HY견명조"/>
              </a:rPr>
              <a:t>판단의 대행이 아닌, 판단의 도구.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851999"/>
            <a:ext cx="1116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spc="300">
                <a:solidFill>
                  <a:srgbClr val="C9C2E8"/>
                </a:solidFill>
                <a:latin typeface="맑은 고딕"/>
              </a:rPr>
              <a:t>POLARIS  ·  실시간 정보 분석 서비스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80000" y="4680000"/>
            <a:ext cx="2832120" cy="0"/>
          </a:xfrm>
          <a:prstGeom prst="line">
            <a:avLst/>
          </a:prstGeom>
          <a:ln w="9525">
            <a:solidFill>
              <a:srgbClr val="3B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0000" y="4896000"/>
            <a:ext cx="111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 spc="400">
                <a:solidFill>
                  <a:srgbClr val="7AB0FF"/>
                </a:solidFill>
                <a:latin typeface="Consolas"/>
              </a:rPr>
              <a:t>TEAM  ·  삼총사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5184000"/>
            <a:ext cx="1116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 spc="300">
                <a:solidFill>
                  <a:srgbClr val="FFFFFF"/>
                </a:solidFill>
                <a:latin typeface="맑은 고딕"/>
              </a:rPr>
              <a:t>김구현    구본훈    심태훈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5940000"/>
            <a:ext cx="1116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 spc="400">
                <a:solidFill>
                  <a:srgbClr val="C9C2E8"/>
                </a:solidFill>
                <a:latin typeface="Times New Roman"/>
              </a:rPr>
              <a:t>Thank you  ·  Q &amp;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6462000"/>
            <a:ext cx="11160000" cy="13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 spc="180" dirty="0">
                <a:solidFill>
                  <a:srgbClr val="6E6890"/>
                </a:solidFill>
                <a:latin typeface="Consolas"/>
              </a:rPr>
              <a:t>© 2026  </a:t>
            </a:r>
            <a:r>
              <a:rPr sz="800" b="0" i="0" spc="180" dirty="0" err="1">
                <a:solidFill>
                  <a:srgbClr val="6E6890"/>
                </a:solidFill>
                <a:latin typeface="Consolas"/>
              </a:rPr>
              <a:t>Samchongsa</a:t>
            </a:r>
            <a:r>
              <a:rPr sz="800" b="0" i="0" spc="180" dirty="0">
                <a:solidFill>
                  <a:srgbClr val="6E6890"/>
                </a:solidFill>
                <a:latin typeface="Consolas"/>
              </a:rPr>
              <a:t>.   POLARIS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52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8FD43C-5975-42B2-B6AA-0DBB84EBA3E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1318dc6-771e-4f62-aec1-a14a2664074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1131</Words>
  <Application>Microsoft Office PowerPoint</Application>
  <PresentationFormat>와이드스크린</PresentationFormat>
  <Paragraphs>271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HY견명조</vt:lpstr>
      <vt:lpstr>맑은 고딕</vt:lpstr>
      <vt:lpstr>Arial</vt:lpstr>
      <vt:lpstr>Calibri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kimkuhyn</cp:lastModifiedBy>
  <cp:revision>46</cp:revision>
  <dcterms:created xsi:type="dcterms:W3CDTF">2013-01-27T09:14:16Z</dcterms:created>
  <dcterms:modified xsi:type="dcterms:W3CDTF">2026-05-21T22:01:00Z</dcterms:modified>
  <cp:category/>
</cp:coreProperties>
</file>